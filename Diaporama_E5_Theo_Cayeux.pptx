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4630400" cy="8229600"/>
  <p:notesSz cx="8229600" cy="146304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Instrument Sans" pitchFamily="2" charset="0"/>
      <p:regular r:id="rId23"/>
      <p:bold r:id="rId24"/>
      <p:italic r:id="rId25"/>
      <p:boldItalic r:id="rId26"/>
    </p:embeddedFont>
    <p:embeddedFont>
      <p:font typeface="Instrument Sans" pitchFamily="2" charset="0"/>
      <p:regular r:id="rId23"/>
      <p:bold r:id="rId24"/>
      <p:italic r:id="rId25"/>
      <p:boldItalic r:id="rId26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89C"/>
    <a:srgbClr val="292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5793" autoAdjust="0"/>
  </p:normalViewPr>
  <p:slideViewPr>
    <p:cSldViewPr snapToGrid="0" snapToObjects="1">
      <p:cViewPr varScale="1">
        <p:scale>
          <a:sx n="72" d="100"/>
          <a:sy n="72" d="100"/>
        </p:scale>
        <p:origin x="14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07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appliquer une transition discrète entre les diapositives. Suggestion technique : utilisation d'un effet "fade" ou "slide" d'une durée de 0.5 à 1 seconde pour une présentation d'examen.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Inventaire automatisé :</a:t>
            </a:r>
            <a:r>
              <a:rPr lang="fr-FR" dirty="0"/>
              <a:t> Utilisation de </a:t>
            </a:r>
            <a:r>
              <a:rPr lang="fr-FR" dirty="0" err="1"/>
              <a:t>l'appliance</a:t>
            </a:r>
            <a:r>
              <a:rPr lang="fr-FR" dirty="0"/>
              <a:t> </a:t>
            </a:r>
            <a:r>
              <a:rPr lang="fr-FR" b="1" dirty="0"/>
              <a:t>KACE SMA (K1000)</a:t>
            </a:r>
            <a:r>
              <a:rPr lang="fr-FR" dirty="0"/>
              <a:t> pour le suivi en temps réel des assets.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Structuration de l'Annuaire :</a:t>
            </a:r>
            <a:r>
              <a:rPr lang="fr-FR" dirty="0"/>
              <a:t> Gestion de l'</a:t>
            </a:r>
            <a:r>
              <a:rPr lang="fr-FR" b="1" dirty="0"/>
              <a:t>Active Directory</a:t>
            </a:r>
            <a:r>
              <a:rPr lang="fr-FR" dirty="0"/>
              <a:t> avec application de règles de nommage strictes pour les objets et utilisateurs.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Gestion de la Mobilité (MDM) :</a:t>
            </a:r>
            <a:r>
              <a:rPr lang="fr-FR" dirty="0"/>
              <a:t> Déploiement et sécurisation de la flotte mobile via </a:t>
            </a:r>
            <a:r>
              <a:rPr lang="fr-FR" b="1" dirty="0"/>
              <a:t>Microsoft Intune</a:t>
            </a:r>
            <a:r>
              <a:rPr lang="fr-FR" dirty="0"/>
              <a:t> et </a:t>
            </a:r>
            <a:r>
              <a:rPr lang="fr-FR" b="1" dirty="0"/>
              <a:t>Samsung Knox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Méthodologie :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Utilisation d'un logiciel de </a:t>
            </a:r>
            <a:r>
              <a:rPr lang="fr-FR" dirty="0" err="1"/>
              <a:t>ticketing</a:t>
            </a:r>
            <a:r>
              <a:rPr lang="fr-FR" dirty="0"/>
              <a:t> </a:t>
            </a:r>
            <a:r>
              <a:rPr lang="fr-FR" dirty="0" err="1"/>
              <a:t>topdesk</a:t>
            </a:r>
            <a:r>
              <a:rPr lang="fr-FR" dirty="0"/>
              <a:t> </a:t>
            </a:r>
            <a:r>
              <a:rPr lang="fr-FR" dirty="0" err="1"/>
              <a:t>glpi</a:t>
            </a:r>
            <a:r>
              <a:rPr lang="fr-FR" dirty="0"/>
              <a:t> </a:t>
            </a:r>
            <a:r>
              <a:rPr lang="fr-FR" dirty="0" err="1"/>
              <a:t>etc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Application du principe de sécurité : « </a:t>
            </a:r>
            <a:r>
              <a:rPr lang="fr-FR" b="1" dirty="0"/>
              <a:t>Never Trust User</a:t>
            </a:r>
            <a:r>
              <a:rPr lang="fr-FR" dirty="0"/>
              <a:t> ».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Processus d'escalade vers les pôles spécialisés (Infra/Dev) en cas de besoin.</a:t>
            </a:r>
          </a:p>
          <a:p>
            <a:r>
              <a:rPr lang="en-US" dirty="0" err="1"/>
              <a:t>Toujours</a:t>
            </a:r>
            <a:r>
              <a:rPr lang="en-US" dirty="0"/>
              <a:t> noter les actions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À l'IGBMC, j'ai travaillé sur le déploiement de </a:t>
            </a:r>
            <a:r>
              <a:rPr lang="fr-FR" b="1" dirty="0"/>
              <a:t>Windows 11</a:t>
            </a:r>
            <a:r>
              <a:rPr lang="fr-FR" dirty="0"/>
              <a:t> via </a:t>
            </a:r>
            <a:r>
              <a:rPr lang="fr-FR" b="1" dirty="0"/>
              <a:t>KACE SDA (K2000)</a:t>
            </a:r>
            <a:r>
              <a:rPr lang="fr-FR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créé des environnements de boot </a:t>
            </a:r>
            <a:r>
              <a:rPr lang="fr-FR" b="1" dirty="0"/>
              <a:t>KBE</a:t>
            </a:r>
            <a:r>
              <a:rPr lang="fr-FR" dirty="0"/>
              <a:t> personnalisés. J'ai configuré le boot </a:t>
            </a:r>
            <a:r>
              <a:rPr lang="fr-FR" b="1" dirty="0"/>
              <a:t>PXE</a:t>
            </a:r>
            <a:r>
              <a:rPr lang="fr-FR" dirty="0"/>
              <a:t> et sécurisé les </a:t>
            </a:r>
            <a:r>
              <a:rPr lang="fr-FR" dirty="0" err="1"/>
              <a:t>firmwares</a:t>
            </a:r>
            <a:r>
              <a:rPr lang="fr-FR" dirty="0"/>
              <a:t> via l'activation du </a:t>
            </a:r>
            <a:r>
              <a:rPr lang="fr-FR" b="1" dirty="0"/>
              <a:t>TPM 2.0</a:t>
            </a:r>
            <a:r>
              <a:rPr lang="fr-FR" dirty="0"/>
              <a:t> et du </a:t>
            </a:r>
            <a:r>
              <a:rPr lang="fr-FR" b="1" dirty="0"/>
              <a:t>Secure Boot</a:t>
            </a:r>
            <a:r>
              <a:rPr lang="fr-F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mis en place du provisioning </a:t>
            </a:r>
            <a:r>
              <a:rPr lang="fr-FR" b="1" dirty="0"/>
              <a:t>«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Touch</a:t>
            </a:r>
            <a:r>
              <a:rPr lang="fr-FR" b="1" dirty="0"/>
              <a:t> »</a:t>
            </a:r>
            <a:r>
              <a:rPr lang="fr-F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Grâce à </a:t>
            </a:r>
            <a:r>
              <a:rPr lang="fr-FR" b="1" dirty="0"/>
              <a:t>Apple </a:t>
            </a:r>
            <a:r>
              <a:rPr lang="fr-FR" b="1" dirty="0" err="1"/>
              <a:t>Device</a:t>
            </a:r>
            <a:r>
              <a:rPr lang="fr-FR" b="1" dirty="0"/>
              <a:t> </a:t>
            </a:r>
            <a:r>
              <a:rPr lang="fr-FR" b="1" dirty="0" err="1"/>
              <a:t>Enrollment</a:t>
            </a:r>
            <a:r>
              <a:rPr lang="fr-FR" b="1" dirty="0"/>
              <a:t> (ADE)</a:t>
            </a:r>
            <a:r>
              <a:rPr lang="fr-FR" dirty="0"/>
              <a:t> et </a:t>
            </a:r>
            <a:r>
              <a:rPr lang="fr-FR" b="1" dirty="0" err="1"/>
              <a:t>Mosyle</a:t>
            </a:r>
            <a:r>
              <a:rPr lang="fr-FR" dirty="0"/>
              <a:t>, le poste se configure automatiquement dès sa sortie du carton.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J'ai automatisé l'après-installation via des </a:t>
            </a:r>
            <a:r>
              <a:rPr lang="fr-FR" b="1" dirty="0"/>
              <a:t>scripts Bash</a:t>
            </a:r>
            <a:r>
              <a:rPr lang="fr-FR" dirty="0"/>
              <a:t> pour le nommage et le montage des lecteurs réseau.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Projet MDM (EMHA) :</a:t>
            </a:r>
            <a:r>
              <a:rPr lang="fr-FR" dirty="0"/>
              <a:t> Analyse des besoins sur le terrain et définition des stratégies avec les services métiers. Phase de test (POC) avant mise en production globale.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Intégration Lenovo (IGBMC) :</a:t>
            </a:r>
            <a:r>
              <a:rPr lang="fr-FR" dirty="0"/>
              <a:t> Adaptation de la chaîne de déploiement (nouveaux drivers, environnements KBE spécifiques). Gestion technique du </a:t>
            </a:r>
            <a:r>
              <a:rPr lang="fr-FR" b="1" dirty="0" err="1"/>
              <a:t>Passthrough</a:t>
            </a:r>
            <a:r>
              <a:rPr lang="fr-FR" b="1" dirty="0"/>
              <a:t> d'adresse MAC</a:t>
            </a:r>
            <a:r>
              <a:rPr lang="fr-FR" dirty="0"/>
              <a:t> pour les stations d'accueil (docks). Rédaction de la documentation technique pour l'équipe.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50000"/>
                <a:lumOff val="50000"/>
              </a:schemeClr>
            </a:gs>
            <a:gs pos="66000">
              <a:schemeClr val="bg1">
                <a:alpha val="97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0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2557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Épreuve E5 - Support et mise à disposition de services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informatiques</a:t>
            </a:r>
          </a:p>
        </p:txBody>
      </p:sp>
      <p:sp>
        <p:nvSpPr>
          <p:cNvPr id="3" name="Text 1"/>
          <p:cNvSpPr/>
          <p:nvPr/>
        </p:nvSpPr>
        <p:spPr>
          <a:xfrm>
            <a:off x="4298632" y="4358580"/>
            <a:ext cx="603313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BTS SIO SISR - Session 2026</a:t>
            </a:r>
            <a:endParaRPr lang="en-US" sz="2400" dirty="0">
              <a:gradFill flip="none" rotWithShape="1">
                <a:gsLst>
                  <a:gs pos="0">
                    <a:schemeClr val="bg1">
                      <a:shade val="30000"/>
                      <a:satMod val="115000"/>
                    </a:schemeClr>
                  </a:gs>
                  <a:gs pos="50000">
                    <a:schemeClr val="bg1">
                      <a:shade val="67500"/>
                      <a:satMod val="115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514100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450"/>
              </a:lnSpc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Théo CAYEUX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D0BA0-4D8D-4552-B00C-7BFBE5BB7714}"/>
              </a:ext>
            </a:extLst>
          </p:cNvPr>
          <p:cNvSpPr/>
          <p:nvPr/>
        </p:nvSpPr>
        <p:spPr>
          <a:xfrm>
            <a:off x="12775168" y="7737230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802326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évolution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11316"/>
            <a:ext cx="1305782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Stage EMHA                                               Stage IGBMC                                              </a:t>
            </a:r>
            <a:r>
              <a:rPr lang="fr-FR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Parcours</a:t>
            </a: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future                 </a:t>
            </a:r>
            <a:endParaRPr lang="en-US" sz="2400" b="1" u="sng" dirty="0">
              <a:solidFill>
                <a:schemeClr val="bg1"/>
              </a:solidFill>
              <a:latin typeface="Instrument sans" pitchFamily="2" charset="0"/>
            </a:endParaRPr>
          </a:p>
          <a:p>
            <a:pPr marL="0" indent="0" algn="l">
              <a:lnSpc>
                <a:spcPts val="2750"/>
              </a:lnSpc>
              <a:buNone/>
            </a:pP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3569017"/>
            <a:ext cx="397954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Résolution de tickets, préparation de postes de travail, gestion Active Directory. Découverte du travail en mode projet.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34357" y="335637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endParaRPr lang="en-US" sz="26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26142" y="3567261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de déploiements lourds d'OS. Configuration avancée de firmwares et automatisation de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tâche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872067" y="3569017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Alternance pour la 3ème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année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L'école sera le CESI ou CCI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1C7776-5ED4-4344-8772-C0E8CC293299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8096" y="623173"/>
            <a:ext cx="5094089" cy="636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Sommaire</a:t>
            </a:r>
          </a:p>
        </p:txBody>
      </p:sp>
      <p:sp>
        <p:nvSpPr>
          <p:cNvPr id="3" name="Shape 1"/>
          <p:cNvSpPr/>
          <p:nvPr/>
        </p:nvSpPr>
        <p:spPr>
          <a:xfrm>
            <a:off x="7303770" y="1625918"/>
            <a:ext cx="22860" cy="598039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sp>
        <p:nvSpPr>
          <p:cNvPr id="4" name="Shape 2"/>
          <p:cNvSpPr/>
          <p:nvPr/>
        </p:nvSpPr>
        <p:spPr>
          <a:xfrm>
            <a:off x="6930628" y="1843683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1778734"/>
            <a:ext cx="152757" cy="152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97981" y="1695926"/>
            <a:ext cx="360223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évolution professionnelle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292340" y="3024664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2959715"/>
            <a:ext cx="152757" cy="152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30183" y="2876907"/>
            <a:ext cx="3057049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Contextes professionnels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930628" y="4057650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3992701"/>
            <a:ext cx="152757" cy="1527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22546" y="3909893"/>
            <a:ext cx="3277672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Compétences développées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7292340" y="5090755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5025807"/>
            <a:ext cx="152757" cy="15275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130183" y="4942999"/>
            <a:ext cx="2546985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Veille technologique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8130183" y="5371028"/>
            <a:ext cx="5707856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6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30628" y="6123861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6058912"/>
            <a:ext cx="152757" cy="15275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36551" y="5976104"/>
            <a:ext cx="266366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Bilan et ambition futur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C904A-2871-426C-A702-0D2A29CAC2C5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68088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Contextes professionnels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EMHA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10332"/>
            <a:ext cx="6244709" cy="249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Pôle Habitat Social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Entité regroupant </a:t>
            </a:r>
            <a:r>
              <a:rPr lang="fr-FR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Ophéa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Habitation Moderne et Foyer Moderne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500 employés au siège et 17 lieux d'accueil physiques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4 employés au service informatique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600/700 postes Windows et 100/150 tablettes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IGBMC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610332"/>
            <a:ext cx="6244709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Institut de recherche scientifique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Travaillant pour le CNRS, l'Inserm et l'Université de Strasbourg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570 personnels de recherche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16 personnes au service informatique : 4 dev, 5 Infra, et 6 Gestion de parc + 1 responsable du SI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+ 1000 postes Windows, MacOS et Linux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D97931-6471-4F30-A6CF-84D02309DF8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6862"/>
            <a:ext cx="127064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–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Gérer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 </a:t>
            </a: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patrimoine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</a:p>
          <a:p>
            <a:pPr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084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Inventaire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51084" y="483560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avec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SMA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K1000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216962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74256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Active Directory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74256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Application de règles de nommage strictes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640133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7427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Flotte mobile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897427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via profils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MDM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Microsoft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et Samsung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Knox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D8D273-B9E2-4675-937F-9ED7790B9ED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60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Répondre aux incidents </a:t>
            </a:r>
          </a:p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et demandes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7518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Support N1/N2.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69951"/>
            <a:ext cx="13042821" cy="1978819"/>
          </a:xfrm>
          <a:prstGeom prst="roundRect">
            <a:avLst>
              <a:gd name="adj" fmla="val 4814"/>
            </a:avLst>
          </a:prstGeom>
          <a:solidFill>
            <a:srgbClr val="4D4D4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4683443"/>
            <a:ext cx="425291" cy="340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72709" y="4653439"/>
            <a:ext cx="374796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Support et intervention</a:t>
            </a:r>
            <a:endParaRPr lang="fr-FR" sz="26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72709" y="5305544"/>
            <a:ext cx="1193708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Logiciel de ticket, processus de réponse aux incidents/demandes à appliquer, « Never Trust User », escale au pole/service concerné.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21BD47-A818-4DA7-B6F2-488EF3ED671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Mettre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à disposition un service (Windows)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4205645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Industrialisation des déploiements Windows 11 via l'appliance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SDA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K2000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d'environnements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bootables.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Boot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PXE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Configurations de sécurité du firmware :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BIOS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/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UEFI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activation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TPM 2.0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et gestion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Secure Boot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/ HP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Sure Start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87B7E-B5ED-41BE-B3D9-9C59A7BAD00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Mettre à disposition un service (macOS)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10" y="3811429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724" y="4945499"/>
            <a:ext cx="34285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Provisioning "Zero Touch"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20724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Via Apple Device Enrollment (ADE) et Mosyle.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77" y="3811429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291" y="4945499"/>
            <a:ext cx="389393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Automatisation post-installation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368291" y="579024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Scripts Bash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nommage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montage de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lecteurs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reseau, pack de base).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044" y="3811429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858" y="49454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 réseau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9715858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Vérification FileVault, Wifi Eduroam, VPN PaloAlto.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CAB53-F228-412D-8EA4-D2D2291AC40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5542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Travailler en mode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projet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05746"/>
            <a:ext cx="381261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Projet MDM chez EMHA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757852"/>
            <a:ext cx="62447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Cadrage du besoin inter-services : réunion, visite sur le terrain des besoins, listage des problèmes rencontrées avec les anciens profils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et déploiement des stratégies, profils et inventarisation des tablettes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en production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31057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</a:t>
            </a: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de Lenovo dans le parc IGBMC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757852"/>
            <a:ext cx="6244709" cy="30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d'une nouvelle marque dans le parc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Chaîne de déploiement à adapter :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 différent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Pack de drivers à adapter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Adresse MAC de la NIC interne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Passthrough dock Lenovo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production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</a:rPr>
              <a:t>Documentation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63DDB1-BCA2-467A-BB0F-C12F59AE9F3A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Présence en ligne &amp;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Organisation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89" y="393334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Veille technologique sur l'ascension de Proxmox face au monopole de VMware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E49026-83DF-4C2D-9D1C-8BA8FABE8DE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46333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L'ascension de Proxmox face au monopole </a:t>
            </a:r>
          </a:p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de VMware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428761"/>
            <a:ext cx="613040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450"/>
              </a:lnSpc>
            </a:pPr>
            <a:r>
              <a:rPr lang="en-US" sz="2800" b="1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Le séisme Broadcom (Fin 2023 - 2024)</a:t>
            </a:r>
          </a:p>
        </p:txBody>
      </p:sp>
      <p:sp>
        <p:nvSpPr>
          <p:cNvPr id="4" name="Text 2"/>
          <p:cNvSpPr/>
          <p:nvPr/>
        </p:nvSpPr>
        <p:spPr>
          <a:xfrm>
            <a:off x="793790" y="4114800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Rachat de VMware par Broadcom pour 61 milliards $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Fin brutale des licences perpétuelles (ESXi gratuit, c'est fini)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Passage obligatoire à l'abonnement : explosion des coûts pour les TPE/PME (parfois x3 ou x5)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Conséquence :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Les DSI cherchent urgemment une porte de sortie et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alternative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7409E-AF1C-48DE-91EF-E5DBA340B67D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2878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Proxmox VE : De l'outsider au standard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649961"/>
            <a:ext cx="470832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L'alternative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gagnante</a:t>
            </a:r>
            <a:endParaRPr lang="en-US" sz="24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89" y="3358740"/>
            <a:ext cx="13042821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Solution open-source basée sur Debian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Modèle économique rassurant (gratuit à l'utilisation, support pro abordable)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native de KVM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hyperviseur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 et LXC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LinuX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Containers)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F8DD9E-661B-459C-A042-48628FFEC09E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813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Pourquoi les entreprises franchissent le pas ?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832616"/>
            <a:ext cx="890063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Les arguments techniques de la migration</a:t>
            </a:r>
          </a:p>
        </p:txBody>
      </p:sp>
      <p:sp>
        <p:nvSpPr>
          <p:cNvPr id="4" name="Shape 2"/>
          <p:cNvSpPr/>
          <p:nvPr/>
        </p:nvSpPr>
        <p:spPr>
          <a:xfrm>
            <a:off x="793790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42524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L'outil clé (Mi-2024)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42524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Sortie de l'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Import Wizard 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natif (migration directe d'une VM de vSphere vers Proxmox en quelques clics)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16962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565696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L'écosystème suit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565696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Les géants de la sauvegarde d'entreprise (comme Veeam) intègrent le support officiel de Proxmox VE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9640133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988868" y="3997047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Clustering et Haute Disponibilité (HA)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9988868" y="4841796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Inclus nativement sans surcoût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C39FA7-BE40-463A-B668-F0B44BA041D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698408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Ma méthodologie 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veille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645329"/>
            <a:ext cx="524720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Comment je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m'informe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?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5474" y="3772357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5474" y="46228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Sources Techniques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935474" y="5113239"/>
            <a:ext cx="6379726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IT-Connect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documentation officielle Proxmox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0" y="3772358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315200" y="46228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Communautés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7315200" y="5152886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Reddit (r/sysadmin, r/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proxmox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 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</a:rPr>
              <a:t>Forum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C12BDF-7AAE-4132-A756-97D73748334B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428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Ambition futur </a:t>
            </a:r>
          </a:p>
        </p:txBody>
      </p:sp>
      <p:sp>
        <p:nvSpPr>
          <p:cNvPr id="9" name="Shape 5"/>
          <p:cNvSpPr/>
          <p:nvPr/>
        </p:nvSpPr>
        <p:spPr>
          <a:xfrm>
            <a:off x="653818" y="3155599"/>
            <a:ext cx="10955086" cy="1484538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5435-3A8F-4E12-9A56-F97511E242D0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56B5D54-8CC9-4529-8A9E-31C60E009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790" y="3159204"/>
            <a:ext cx="1053681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fr-FR" altLang="fr-FR" sz="1750" b="1" dirty="0">
                <a:solidFill>
                  <a:schemeClr val="bg1"/>
                </a:solidFill>
                <a:latin typeface="Instrument Sans" pitchFamily="2" charset="0"/>
              </a:rPr>
              <a:t>Objectif à court terme :</a:t>
            </a:r>
            <a:r>
              <a:rPr lang="fr-FR" altLang="fr-FR" sz="1750" dirty="0">
                <a:solidFill>
                  <a:schemeClr val="bg1"/>
                </a:solidFill>
                <a:latin typeface="Instrument Sans" pitchFamily="2" charset="0"/>
              </a:rPr>
              <a:t> Obtention du BTS SIO option SISR (Session 2026).</a:t>
            </a:r>
            <a:endParaRPr kumimoji="0" lang="fr-FR" altLang="fr-FR" sz="175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Instrument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Poursuite d'études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Licence Administrateur Systèmes et Réseaux (Bac+3).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Rythme souhaité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Contrat d'apprentissage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Écoles cibles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CESI ou CCI (Strasbourg).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75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Projet professionnel :</a:t>
            </a:r>
            <a:r>
              <a:rPr kumimoji="0" lang="fr-FR" altLang="fr-FR" sz="175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Instrument Sans" pitchFamily="2" charset="0"/>
              </a:rPr>
              <a:t> Évoluer vers un poste d'Administrateur Systèmes et Réseaux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Bilan et Perspectives</a:t>
            </a:r>
          </a:p>
        </p:txBody>
      </p:sp>
      <p:sp>
        <p:nvSpPr>
          <p:cNvPr id="3" name="Text 1"/>
          <p:cNvSpPr/>
          <p:nvPr/>
        </p:nvSpPr>
        <p:spPr>
          <a:xfrm>
            <a:off x="793789" y="302721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Remerciements au jury.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D1F949-DDC8-44A1-8A53-CC1A9F18DA78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Words>1061</Words>
  <Application>Microsoft Office PowerPoint</Application>
  <PresentationFormat>Personnalisé</PresentationFormat>
  <Paragraphs>140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Instrument Sans</vt:lpstr>
      <vt:lpstr>Instrument Sans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lastModifiedBy>CAYEUX Théo</cp:lastModifiedBy>
  <cp:revision>18</cp:revision>
  <dcterms:created xsi:type="dcterms:W3CDTF">2026-03-02T14:57:19Z</dcterms:created>
  <dcterms:modified xsi:type="dcterms:W3CDTF">2026-03-03T15:55:27Z</dcterms:modified>
</cp:coreProperties>
</file>