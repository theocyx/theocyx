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4630400" cy="8229600"/>
  <p:notesSz cx="8229600" cy="146304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Instrument Sans" pitchFamily="2" charset="0"/>
      <p:regular r:id="rId23"/>
      <p:bold r:id="rId24"/>
      <p:italic r:id="rId25"/>
      <p:boldItalic r:id="rId26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89C"/>
    <a:srgbClr val="2929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4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7078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appliquer une transition discrète entre les diapositives. Suggestion technique : utilisation d'un effet "fade" ou "slide" d'une durée de 0.5 à 1 seconde pour une présentation d'examen.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Transition: fade, duration=0.7s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A2A2D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1">
                <a:lumMod val="50000"/>
                <a:lumOff val="50000"/>
              </a:schemeClr>
            </a:gs>
            <a:gs pos="66000">
              <a:schemeClr val="bg1">
                <a:alpha val="97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0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725579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algn="ctr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Épreuve E5 - Support et mise à disposition de services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informatiques</a:t>
            </a:r>
          </a:p>
        </p:txBody>
      </p:sp>
      <p:sp>
        <p:nvSpPr>
          <p:cNvPr id="3" name="Text 1"/>
          <p:cNvSpPr/>
          <p:nvPr/>
        </p:nvSpPr>
        <p:spPr>
          <a:xfrm>
            <a:off x="4298632" y="4358580"/>
            <a:ext cx="603313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BTS SIO SISR - Session 2026</a:t>
            </a:r>
            <a:endParaRPr lang="en-US" sz="2400" dirty="0">
              <a:gradFill flip="none" rotWithShape="1">
                <a:gsLst>
                  <a:gs pos="0">
                    <a:schemeClr val="bg1">
                      <a:shade val="30000"/>
                      <a:satMod val="115000"/>
                    </a:schemeClr>
                  </a:gs>
                  <a:gs pos="50000">
                    <a:schemeClr val="bg1">
                      <a:shade val="67500"/>
                      <a:satMod val="115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path path="circle">
                  <a:fillToRect l="100000" t="100000"/>
                </a:path>
                <a:tileRect r="-100000" b="-100000"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514100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450"/>
              </a:lnSpc>
            </a:pPr>
            <a:r>
              <a:rPr lang="en-US" sz="2400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Théo CAYEUX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FD0BA0-4D8D-4552-B00C-7BFBE5BB7714}"/>
              </a:ext>
            </a:extLst>
          </p:cNvPr>
          <p:cNvSpPr/>
          <p:nvPr/>
        </p:nvSpPr>
        <p:spPr>
          <a:xfrm>
            <a:off x="12775168" y="7737230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8096" y="623173"/>
            <a:ext cx="5094089" cy="6367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Sommaire</a:t>
            </a:r>
          </a:p>
        </p:txBody>
      </p:sp>
      <p:sp>
        <p:nvSpPr>
          <p:cNvPr id="3" name="Shape 1"/>
          <p:cNvSpPr/>
          <p:nvPr/>
        </p:nvSpPr>
        <p:spPr>
          <a:xfrm>
            <a:off x="7303770" y="1625918"/>
            <a:ext cx="22860" cy="598039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sp>
        <p:nvSpPr>
          <p:cNvPr id="4" name="Shape 2"/>
          <p:cNvSpPr/>
          <p:nvPr/>
        </p:nvSpPr>
        <p:spPr>
          <a:xfrm>
            <a:off x="6930628" y="1843683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1778734"/>
            <a:ext cx="152757" cy="1527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97981" y="1695926"/>
            <a:ext cx="360223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Mon évolution professionnelle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292340" y="3024664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2959715"/>
            <a:ext cx="152757" cy="15275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130183" y="2876907"/>
            <a:ext cx="3057049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Contextes professionnels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6930628" y="4057650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3992701"/>
            <a:ext cx="152757" cy="15275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22546" y="3909893"/>
            <a:ext cx="3277672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Compétences développées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7292340" y="5090755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5025807"/>
            <a:ext cx="152757" cy="15275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130183" y="4942999"/>
            <a:ext cx="2546985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Veille technologique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8130183" y="5371028"/>
            <a:ext cx="5707856" cy="309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endParaRPr lang="en-US" sz="16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7" name="Shape 11"/>
          <p:cNvSpPr/>
          <p:nvPr/>
        </p:nvSpPr>
        <p:spPr>
          <a:xfrm>
            <a:off x="6930628" y="6123861"/>
            <a:ext cx="407432" cy="22860"/>
          </a:xfrm>
          <a:prstGeom prst="roundRect">
            <a:avLst>
              <a:gd name="adj" fmla="val 374376"/>
            </a:avLst>
          </a:prstGeom>
          <a:solidFill>
            <a:srgbClr val="56565B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1" y="6058912"/>
            <a:ext cx="152757" cy="15275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36551" y="5976104"/>
            <a:ext cx="2663666" cy="3182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50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Bilan et ambition futur</a:t>
            </a:r>
            <a:endParaRPr lang="en-US" sz="20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26C904A-2871-426C-A702-0D2A29CAC2C5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802326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Mon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évolution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911316"/>
            <a:ext cx="1305782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Stage EMHA                                               Stage IGBMC                                              </a:t>
            </a:r>
            <a:r>
              <a:rPr lang="fr-FR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Parcours</a:t>
            </a:r>
            <a:r>
              <a:rPr lang="en-US" sz="2400" b="1" u="sng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future                 </a:t>
            </a:r>
            <a:endParaRPr lang="en-US" sz="2400" b="1" u="sng" dirty="0">
              <a:solidFill>
                <a:schemeClr val="bg1"/>
              </a:solidFill>
              <a:latin typeface="Instrument sans" pitchFamily="2" charset="0"/>
            </a:endParaRPr>
          </a:p>
          <a:p>
            <a:pPr marL="0" indent="0" algn="l">
              <a:lnSpc>
                <a:spcPts val="2750"/>
              </a:lnSpc>
              <a:buNone/>
            </a:pP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3790" y="3569017"/>
            <a:ext cx="397954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Résolution de tickets, préparation de postes de travail, gestion Active Directory. Découverte du travail en mode projet.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334357" y="3356372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endParaRPr lang="en-US" sz="26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326142" y="3567261"/>
            <a:ext cx="39781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de déploiements lourds d'OS. Configuration avancée de firmwares et automatisation de 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tâche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9872067" y="3569017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Alternance pour la 3ème 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année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L'école sera le CESI ou CCI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21C7776-5ED4-4344-8772-C0E8CC293299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680882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Contextes professionnels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EMHA</a:t>
            </a:r>
            <a:endParaRPr lang="fr-FR" sz="2650" b="1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610332"/>
            <a:ext cx="6244709" cy="24945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Pôle Habitat Social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Entité regroupant </a:t>
            </a:r>
            <a:r>
              <a:rPr lang="fr-FR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Ophéa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Habitation Moderne et Foyer Moderne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500 employés au siège et 17 lieux d'accueil physiques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4 employés au service informatique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600/700 postes Windows et 100/150 tablettes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295822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IGBMC</a:t>
            </a:r>
            <a:endParaRPr lang="fr-FR" sz="2650" b="1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610332"/>
            <a:ext cx="6244709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Institut de recherche scientifique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Travaillant pour le CNRS, l'Inserm et l'Université de Strasbourg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570 personnels de recherche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16 personnes au service informatique : 4 dev, 5 Infra, et 6 Gestion de parc + 1 responsable du SI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+ 1000 postes Windows, MacOS et Linux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D97931-6471-4F30-A6CF-84D02309DF8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6862"/>
            <a:ext cx="1270646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–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Gérer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le </a:t>
            </a: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patrimoine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</a:p>
          <a:p>
            <a:pPr>
              <a:lnSpc>
                <a:spcPts val="5550"/>
              </a:lnSpc>
            </a:pP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informatique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084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Inventaire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51084" y="483560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avec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SMA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K1000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216962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74256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Active Directory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74256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Application de règles de nommage strictes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9640133" y="4087892"/>
            <a:ext cx="4196358" cy="1730812"/>
          </a:xfrm>
          <a:prstGeom prst="roundRect">
            <a:avLst>
              <a:gd name="adj" fmla="val 5504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97427" y="434518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Flotte mobile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897427" y="4835604"/>
            <a:ext cx="368177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Gestion via profils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MDM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Microsoft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Intune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et Samsung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Knox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D8D273-B9E2-4675-937F-9ED7790B9ED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560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Répondre aux incidents </a:t>
            </a:r>
          </a:p>
          <a:p>
            <a:pPr indent="0">
              <a:lnSpc>
                <a:spcPts val="5550"/>
              </a:lnSpc>
              <a:buNone/>
            </a:pPr>
            <a:r>
              <a:rPr lang="fr-FR" sz="4800" b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et demandes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75189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Support N1/N2.</a:t>
            </a:r>
            <a:endParaRPr lang="fr-FR" sz="17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4369951"/>
            <a:ext cx="13042821" cy="1978819"/>
          </a:xfrm>
          <a:prstGeom prst="roundRect">
            <a:avLst>
              <a:gd name="adj" fmla="val 4814"/>
            </a:avLst>
          </a:prstGeom>
          <a:solidFill>
            <a:srgbClr val="4D4D4D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04" y="4683443"/>
            <a:ext cx="425291" cy="3401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72709" y="4653439"/>
            <a:ext cx="374796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Support et intervention</a:t>
            </a:r>
            <a:endParaRPr lang="fr-FR" sz="265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72709" y="5305544"/>
            <a:ext cx="1193708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Logiciel de ticket, processus de réponse aux incidents/demandes à appliquer, « Never Trust User », escale au pole/service concerné.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21BD47-A818-4DA7-B6F2-488EF3ED671F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</a:t>
            </a: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Mettre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à disposition un service (Windows)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4205645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Industrialisation des déploiements Windows 11 via l'appliance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KACE SDA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(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K2000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d'environnements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bootables.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Boot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PXE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Configurations de sécurité du firmware :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BIOS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/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UEFI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activation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TPM 2.0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et gestion du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Secure Boot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/ HP 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Sure Start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387B7E-B5ED-41BE-B3D9-9C59A7BAD00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Mettre à disposition un service (macOS)</a:t>
            </a: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10" y="3811429"/>
            <a:ext cx="4347567" cy="907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20724" y="4945499"/>
            <a:ext cx="342852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Provisioning "Zero Touch"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20724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Via Apple Device Enrollment (ADE) et Mosyle.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477" y="3811429"/>
            <a:ext cx="4347567" cy="9072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68291" y="4945499"/>
            <a:ext cx="389393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Automatisation post-installation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5368291" y="579024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Scripts Bash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nommage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, montage de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lecteurs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reseau, pack de base).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044" y="3811429"/>
            <a:ext cx="4347567" cy="9072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715858" y="49454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 réseau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9715858" y="5435917"/>
            <a:ext cx="389393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Vérification FileVault, Wifi Eduroam, VPN PaloAlto.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CAB53-F228-412D-8EA4-D2D2291AC40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55429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Travailler en mode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projet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3105746"/>
            <a:ext cx="381261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Projet MDM chez EMHA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3757852"/>
            <a:ext cx="6244709" cy="233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Cadrage du besoin inter-services : réunion, visite sur le terrain des besoins, listage des problèmes rencontrées avec les anciens profils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Création et déploiement des stratégies, profils et inventarisation des tablettes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en production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599521" y="3105746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fr-FR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Intégration</a:t>
            </a:r>
            <a:r>
              <a:rPr lang="en-US" sz="265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 de Lenovo dans le parc IGBMC</a:t>
            </a:r>
            <a:endParaRPr lang="en-US" sz="265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3757852"/>
            <a:ext cx="6244709" cy="30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d'une nouvelle marque dans le parc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Chaîne de déploiement à adapter :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KBE différent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Pack de drivers à adapter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Adresse MAC de la NIC interne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685800" lvl="1" indent="-342900" algn="l">
              <a:lnSpc>
                <a:spcPts val="2850"/>
              </a:lnSpc>
              <a:buSzPct val="100000"/>
              <a:buChar char="◦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Passthrough dock Lenovo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Test à petite échelle puis mise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en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production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</a:rPr>
              <a:t>Documentation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63DDB1-BCA2-467A-BB0F-C12F59AE9F3A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Compétence - Présence en ligne &amp;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Organisation</a:t>
            </a: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professionnelle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89" y="393334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Veille technologique sur l'ascension de Proxmox face au monopole de VMware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E49026-83DF-4C2D-9D1C-8BA8FABE8DE1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46333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L'ascension de Proxmox face au monopole </a:t>
            </a:r>
          </a:p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de VMware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3428761"/>
            <a:ext cx="613040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450"/>
              </a:lnSpc>
            </a:pPr>
            <a:r>
              <a:rPr lang="en-US" sz="2800" b="1" dirty="0">
                <a:gradFill flip="none" rotWithShape="1">
                  <a:gsLst>
                    <a:gs pos="0">
                      <a:schemeClr val="bg1">
                        <a:shade val="30000"/>
                        <a:satMod val="115000"/>
                      </a:schemeClr>
                    </a:gs>
                    <a:gs pos="50000">
                      <a:schemeClr val="bg1">
                        <a:shade val="67500"/>
                        <a:satMod val="115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Instrument sans" pitchFamily="2" charset="0"/>
              </a:rPr>
              <a:t>Le séisme Broadcom (Fin 2023 - 2024)</a:t>
            </a:r>
          </a:p>
        </p:txBody>
      </p:sp>
      <p:sp>
        <p:nvSpPr>
          <p:cNvPr id="4" name="Text 2"/>
          <p:cNvSpPr/>
          <p:nvPr/>
        </p:nvSpPr>
        <p:spPr>
          <a:xfrm>
            <a:off x="793790" y="4114800"/>
            <a:ext cx="13042821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Rachat de VMware par Broadcom pour 61 milliards $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Fin brutale des licences perpétuelles (ESXi gratuit, c'est fini)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Passage obligatoire à l'abonnement : explosion des coûts pour les TPE/PME (parfois x3 ou x5)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Conséquence :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Les DSI cherchent urgemment une porte de sortie et 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une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alternative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47409E-AF1C-48DE-91EF-E5DBA340B67D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02878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Proxmox VE : De l'outsider au standard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649961"/>
            <a:ext cx="4708327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L'alternative</a:t>
            </a: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</a:t>
            </a: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gagnante</a:t>
            </a:r>
            <a:endParaRPr lang="en-US" sz="24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89" y="3358740"/>
            <a:ext cx="13042821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Solution open-source basée sur Debian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Modèle économique rassurant (gratuit à l'utilisation, support pro abordable)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Intégration native de KVM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hyperviseur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 et LXC (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LinuX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Containers)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F8DD9E-661B-459C-A042-48628FFEC09E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98137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Pourquoi les entreprises franchissent le pas ?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832616"/>
            <a:ext cx="890063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Les arguments techniques de la migration</a:t>
            </a:r>
          </a:p>
        </p:txBody>
      </p:sp>
      <p:sp>
        <p:nvSpPr>
          <p:cNvPr id="4" name="Shape 2"/>
          <p:cNvSpPr/>
          <p:nvPr/>
        </p:nvSpPr>
        <p:spPr>
          <a:xfrm>
            <a:off x="793790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42524" y="3997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L'outil clé (Mi-2024) :</a:t>
            </a:r>
            <a:endParaRPr lang="en-US" sz="220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142524" y="448746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Sortie de l'</a:t>
            </a:r>
            <a:r>
              <a:rPr lang="en-US" sz="1750" b="1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Import Wizard 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natif (migration directe d'une VM de vSphere vers Proxmox en quelques clics)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216962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565696" y="399704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L'écosystème suit :</a:t>
            </a:r>
            <a:endParaRPr lang="en-US" sz="220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5565696" y="448746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Les géants de la sauvegarde d'entreprise (comme Veeam) intègrent le support officiel de Proxmox VE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9640133" y="37397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9988868" y="3997047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Clustering et Haute Disponibilité (HA) :</a:t>
            </a:r>
            <a:endParaRPr lang="en-US" sz="2200" b="1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9988868" y="4841796"/>
            <a:ext cx="359033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Inclus nativement sans surcoût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C39FA7-BE40-463A-B668-F0B44BA041D6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698408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Ma méthodologie de </a:t>
            </a:r>
            <a:r>
              <a:rPr lang="en-US" sz="48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veille</a:t>
            </a:r>
            <a:endParaRPr lang="en-US" sz="4800" b="1" dirty="0">
              <a:gradFill flip="none" rotWithShape="1">
                <a:gsLst>
                  <a:gs pos="0">
                    <a:srgbClr val="96989C">
                      <a:alpha val="10196"/>
                      <a:lumMod val="0"/>
                      <a:lumOff val="100000"/>
                    </a:srgbClr>
                  </a:gs>
                  <a:gs pos="50000">
                    <a:schemeClr val="bg1">
                      <a:shade val="67500"/>
                      <a:satMod val="115000"/>
                      <a:lumMod val="70000"/>
                      <a:lumOff val="30000"/>
                    </a:schemeClr>
                  </a:gs>
                  <a:gs pos="100000">
                    <a:schemeClr val="bg1">
                      <a:shade val="100000"/>
                      <a:satMod val="115000"/>
                    </a:schemeClr>
                  </a:gs>
                </a:gsLst>
                <a:lin ang="2700000" scaled="1"/>
                <a:tileRect/>
              </a:gradFill>
              <a:latin typeface="Instrument sans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645329"/>
            <a:ext cx="5247203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Comment je </a:t>
            </a:r>
            <a:r>
              <a:rPr lang="en-US" sz="2400" b="1" dirty="0" err="1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m'informe</a:t>
            </a:r>
            <a:r>
              <a:rPr lang="en-US" sz="24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 ?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5474" y="3772357"/>
            <a:ext cx="566976" cy="5669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35474" y="46228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Sources Techniques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935474" y="5113239"/>
            <a:ext cx="6379726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IT-Connect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documentation officielle Proxmox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00" y="3772358"/>
            <a:ext cx="566976" cy="56697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315200" y="462282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Communautés :</a:t>
            </a:r>
            <a:endParaRPr lang="en-US" sz="220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7315200" y="5152886"/>
            <a:ext cx="637972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Reddit (r/sysadmin, r/</a:t>
            </a:r>
            <a:r>
              <a:rPr lang="en-US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proxmox</a:t>
            </a: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) </a:t>
            </a:r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</a:rPr>
              <a:t>Forum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C12BDF-7AAE-4132-A756-97D73748334B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119428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ts val="5550"/>
              </a:lnSpc>
              <a:buNone/>
            </a:pPr>
            <a:r>
              <a:rPr lang="fr-FR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Mon positionnement en tant que futur admin</a:t>
            </a:r>
          </a:p>
        </p:txBody>
      </p:sp>
      <p:sp>
        <p:nvSpPr>
          <p:cNvPr id="3" name="Shape 1"/>
          <p:cNvSpPr/>
          <p:nvPr/>
        </p:nvSpPr>
        <p:spPr>
          <a:xfrm>
            <a:off x="793790" y="3286244"/>
            <a:ext cx="4196358" cy="2819519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42524" y="3543538"/>
            <a:ext cx="359033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fr-FR" sz="220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La virtualisation n'est plus dominée par un seul acteur</a:t>
            </a:r>
            <a:endParaRPr lang="fr-FR" sz="220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216962" y="3286244"/>
            <a:ext cx="4196358" cy="2819519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565696" y="3543538"/>
            <a:ext cx="359033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fr-FR" sz="220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L'importance de l'Open-Source dans les infrastructures critiques</a:t>
            </a:r>
            <a:endParaRPr lang="fr-FR" sz="220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9" name="Shape 5"/>
          <p:cNvSpPr/>
          <p:nvPr/>
        </p:nvSpPr>
        <p:spPr>
          <a:xfrm>
            <a:off x="9640133" y="3286244"/>
            <a:ext cx="4196358" cy="2819519"/>
          </a:xfrm>
          <a:prstGeom prst="roundRect">
            <a:avLst>
              <a:gd name="adj" fmla="val 5189"/>
            </a:avLst>
          </a:prstGeom>
          <a:solidFill>
            <a:srgbClr val="2A2A2D">
              <a:alpha val="95000"/>
            </a:srgbClr>
          </a:solidFill>
          <a:ln w="30480">
            <a:solidFill>
              <a:srgbClr val="56565B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9988868" y="354353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fr-FR" sz="2200">
                <a:solidFill>
                  <a:schemeClr val="bg1"/>
                </a:solidFill>
                <a:latin typeface="Instrument sans" pitchFamily="2" charset="0"/>
                <a:ea typeface="Instrument Sans Semi Bold" pitchFamily="34" charset="-122"/>
                <a:cs typeface="Instrument Sans Semi Bold" pitchFamily="34" charset="-120"/>
              </a:rPr>
              <a:t>Mon atout :</a:t>
            </a:r>
            <a:endParaRPr lang="fr-FR" sz="220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9988868" y="4033957"/>
            <a:ext cx="35903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La maîtrise simultanée de VMware et de </a:t>
            </a:r>
            <a:r>
              <a:rPr lang="fr-FR" sz="1750" dirty="0" err="1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Proxmox</a:t>
            </a:r>
            <a:r>
              <a:rPr lang="fr-FR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 me permet d’être capable d’effectuer le changement dans une entreprise.</a:t>
            </a:r>
            <a:endParaRPr lang="fr-FR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2D5435-3A8F-4E12-9A56-F97511E242D0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4760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5550"/>
              </a:lnSpc>
            </a:pPr>
            <a:r>
              <a:rPr lang="en-US" sz="4800" b="1" dirty="0">
                <a:gradFill flip="none" rotWithShape="1">
                  <a:gsLst>
                    <a:gs pos="0">
                      <a:srgbClr val="96989C">
                        <a:alpha val="10196"/>
                        <a:lumMod val="0"/>
                        <a:lumOff val="100000"/>
                      </a:srgbClr>
                    </a:gs>
                    <a:gs pos="50000">
                      <a:schemeClr val="bg1">
                        <a:shade val="67500"/>
                        <a:satMod val="115000"/>
                        <a:lumMod val="70000"/>
                        <a:lumOff val="30000"/>
                      </a:schemeClr>
                    </a:gs>
                    <a:gs pos="100000">
                      <a:schemeClr val="bg1">
                        <a:shade val="100000"/>
                        <a:satMod val="115000"/>
                      </a:schemeClr>
                    </a:gs>
                  </a:gsLst>
                  <a:lin ang="2700000" scaled="1"/>
                  <a:tileRect/>
                </a:gradFill>
                <a:latin typeface="Instrument sans" pitchFamily="2" charset="0"/>
              </a:rPr>
              <a:t>Bilan et Perspectives</a:t>
            </a:r>
          </a:p>
        </p:txBody>
      </p:sp>
      <p:sp>
        <p:nvSpPr>
          <p:cNvPr id="3" name="Text 1"/>
          <p:cNvSpPr/>
          <p:nvPr/>
        </p:nvSpPr>
        <p:spPr>
          <a:xfrm>
            <a:off x="793789" y="302721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chemeClr val="bg1"/>
                </a:solidFill>
                <a:latin typeface="Instrument sans" pitchFamily="2" charset="0"/>
                <a:ea typeface="Instrument Sans Medium" pitchFamily="34" charset="-122"/>
                <a:cs typeface="Instrument Sans Medium" pitchFamily="34" charset="-120"/>
              </a:rPr>
              <a:t>Remerciements au jury.</a:t>
            </a:r>
            <a:endParaRPr lang="en-US" sz="1750" dirty="0">
              <a:solidFill>
                <a:schemeClr val="bg1"/>
              </a:solidFill>
              <a:latin typeface="Instrument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D1F949-DDC8-44A1-8A53-CC1A9F18DA78}"/>
              </a:ext>
            </a:extLst>
          </p:cNvPr>
          <p:cNvSpPr/>
          <p:nvPr/>
        </p:nvSpPr>
        <p:spPr>
          <a:xfrm>
            <a:off x="12775168" y="7717134"/>
            <a:ext cx="1855232" cy="512466"/>
          </a:xfrm>
          <a:prstGeom prst="rect">
            <a:avLst/>
          </a:prstGeom>
          <a:solidFill>
            <a:srgbClr val="2929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bg1"/>
              </a:solidFill>
              <a:latin typeface="Instrument sans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Words>786</Words>
  <Application>Microsoft Office PowerPoint</Application>
  <PresentationFormat>Personnalisé</PresentationFormat>
  <Paragraphs>122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Calibri</vt:lpstr>
      <vt:lpstr>Instrument Sans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lastModifiedBy>CAYEUX Théo</cp:lastModifiedBy>
  <cp:revision>15</cp:revision>
  <dcterms:created xsi:type="dcterms:W3CDTF">2026-03-02T14:57:19Z</dcterms:created>
  <dcterms:modified xsi:type="dcterms:W3CDTF">2026-03-03T10:00:32Z</dcterms:modified>
</cp:coreProperties>
</file>