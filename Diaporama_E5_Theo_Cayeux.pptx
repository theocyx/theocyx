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4630400" cy="8229600"/>
  <p:notesSz cx="8229600" cy="14630400"/>
  <p:embeddedFontLst>
    <p:embeddedFont>
      <p:font typeface="Calibri" panose="020F0502020204030204" pitchFamily="34" charset="0"/>
      <p:regular r:id="rId19"/>
      <p:bold r:id="rId20"/>
      <p:italic r:id="rId21"/>
      <p:boldItalic r:id="rId22"/>
    </p:embeddedFont>
    <p:embeddedFont>
      <p:font typeface="Instrument Sans" pitchFamily="2" charset="0"/>
      <p:regular r:id="rId23"/>
      <p:bold r:id="rId24"/>
      <p:italic r:id="rId25"/>
      <p:boldItalic r:id="rId26"/>
    </p:embeddedFont>
  </p:embeddedFontLst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6989C"/>
    <a:srgbClr val="2929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90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97078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Transition: appliquer une transition discrète entre les diapositives. Suggestion technique : utilisation d'un effet "fade" ou "slide" d'une durée de 0.5 à 1 seconde pour une présentation d'examen.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Transition: fade, duration=0.7s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tx1">
                <a:lumMod val="50000"/>
                <a:lumOff val="50000"/>
              </a:schemeClr>
            </a:gs>
            <a:gs pos="66000">
              <a:schemeClr val="bg1">
                <a:alpha val="97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0.xml"/><Relationship Id="rId1" Type="http://schemas.openxmlformats.org/officeDocument/2006/relationships/themeOverride" Target="../theme/themeOverride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2.xml"/><Relationship Id="rId1" Type="http://schemas.openxmlformats.org/officeDocument/2006/relationships/themeOverride" Target="../theme/themeOverride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2.svg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725579"/>
            <a:ext cx="130428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algn="ctr">
              <a:lnSpc>
                <a:spcPts val="5550"/>
              </a:lnSpc>
              <a:buNone/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Épreuve E5 - Support et mise à disposition de services </a:t>
            </a:r>
            <a:r>
              <a:rPr lang="fr-FR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informatiques</a:t>
            </a:r>
          </a:p>
        </p:txBody>
      </p:sp>
      <p:sp>
        <p:nvSpPr>
          <p:cNvPr id="3" name="Text 1"/>
          <p:cNvSpPr/>
          <p:nvPr/>
        </p:nvSpPr>
        <p:spPr>
          <a:xfrm>
            <a:off x="4298632" y="4358580"/>
            <a:ext cx="6033135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450"/>
              </a:lnSpc>
              <a:buNone/>
            </a:pPr>
            <a:r>
              <a:rPr lang="en-US" sz="2400" dirty="0">
                <a:gradFill flip="none" rotWithShape="1">
                  <a:gsLst>
                    <a:gs pos="0">
                      <a:schemeClr val="bg1">
                        <a:shade val="30000"/>
                        <a:satMod val="115000"/>
                      </a:schemeClr>
                    </a:gs>
                    <a:gs pos="50000">
                      <a:schemeClr val="bg1">
                        <a:shade val="67500"/>
                        <a:satMod val="115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BTS SIO SISR - Session 2026</a:t>
            </a:r>
            <a:endParaRPr lang="en-US" sz="2400" dirty="0">
              <a:gradFill flip="none" rotWithShape="1">
                <a:gsLst>
                  <a:gs pos="0">
                    <a:schemeClr val="bg1">
                      <a:shade val="30000"/>
                      <a:satMod val="115000"/>
                    </a:schemeClr>
                  </a:gs>
                  <a:gs pos="50000">
                    <a:schemeClr val="bg1">
                      <a:shade val="67500"/>
                      <a:satMod val="115000"/>
                    </a:schemeClr>
                  </a:gs>
                  <a:gs pos="100000">
                    <a:schemeClr val="bg1">
                      <a:shade val="100000"/>
                      <a:satMod val="11500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  <a:latin typeface="Instrument sans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793790" y="5141000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4450"/>
              </a:lnSpc>
            </a:pPr>
            <a:r>
              <a:rPr lang="en-US" sz="2400" dirty="0">
                <a:gradFill flip="none" rotWithShape="1">
                  <a:gsLst>
                    <a:gs pos="0">
                      <a:schemeClr val="bg1">
                        <a:shade val="30000"/>
                        <a:satMod val="115000"/>
                      </a:schemeClr>
                    </a:gs>
                    <a:gs pos="50000">
                      <a:schemeClr val="bg1">
                        <a:shade val="67500"/>
                        <a:satMod val="115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latin typeface="Instrument sans" pitchFamily="2" charset="0"/>
              </a:rPr>
              <a:t>Théo CAYEUX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EFD0BA0-4D8D-4552-B00C-7BFBE5BB7714}"/>
              </a:ext>
            </a:extLst>
          </p:cNvPr>
          <p:cNvSpPr/>
          <p:nvPr/>
        </p:nvSpPr>
        <p:spPr>
          <a:xfrm>
            <a:off x="12775168" y="7737230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68096" y="623173"/>
            <a:ext cx="5094089" cy="6367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5550"/>
              </a:lnSpc>
            </a:pPr>
            <a:r>
              <a:rPr lang="en-US" sz="4800" b="1" dirty="0" err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Sommaire</a:t>
            </a:r>
            <a:endParaRPr lang="en-US" sz="4800" b="1" dirty="0">
              <a:gradFill flip="none" rotWithShape="1">
                <a:gsLst>
                  <a:gs pos="0">
                    <a:srgbClr val="96989C">
                      <a:alpha val="10196"/>
                      <a:lumMod val="0"/>
                      <a:lumOff val="100000"/>
                    </a:srgbClr>
                  </a:gs>
                  <a:gs pos="50000">
                    <a:schemeClr val="bg1">
                      <a:shade val="67500"/>
                      <a:satMod val="115000"/>
                      <a:lumMod val="70000"/>
                      <a:lumOff val="30000"/>
                    </a:schemeClr>
                  </a:gs>
                  <a:gs pos="100000">
                    <a:schemeClr val="bg1">
                      <a:shade val="100000"/>
                      <a:satMod val="115000"/>
                    </a:schemeClr>
                  </a:gs>
                </a:gsLst>
                <a:lin ang="2700000" scaled="1"/>
                <a:tileRect/>
              </a:gradFill>
              <a:latin typeface="Instrument sans" pitchFamily="2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303770" y="1625918"/>
            <a:ext cx="22860" cy="5980390"/>
          </a:xfrm>
          <a:prstGeom prst="roundRect">
            <a:avLst>
              <a:gd name="adj" fmla="val 374376"/>
            </a:avLst>
          </a:prstGeom>
          <a:solidFill>
            <a:srgbClr val="56565B"/>
          </a:solidFill>
          <a:ln/>
        </p:spPr>
      </p:sp>
      <p:sp>
        <p:nvSpPr>
          <p:cNvPr id="4" name="Shape 2"/>
          <p:cNvSpPr/>
          <p:nvPr/>
        </p:nvSpPr>
        <p:spPr>
          <a:xfrm>
            <a:off x="6930628" y="1843683"/>
            <a:ext cx="407432" cy="22860"/>
          </a:xfrm>
          <a:prstGeom prst="roundRect">
            <a:avLst>
              <a:gd name="adj" fmla="val 374376"/>
            </a:avLst>
          </a:prstGeom>
          <a:solidFill>
            <a:srgbClr val="56565B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8821" y="1778734"/>
            <a:ext cx="152757" cy="15275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897981" y="1695926"/>
            <a:ext cx="3602236" cy="3182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5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Mon évolution professionnelle</a:t>
            </a:r>
            <a:endParaRPr lang="en-US" sz="20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7292340" y="3024664"/>
            <a:ext cx="407432" cy="22860"/>
          </a:xfrm>
          <a:prstGeom prst="roundRect">
            <a:avLst>
              <a:gd name="adj" fmla="val 374376"/>
            </a:avLst>
          </a:prstGeom>
          <a:solidFill>
            <a:srgbClr val="56565B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8821" y="2959715"/>
            <a:ext cx="152757" cy="15275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130183" y="2876907"/>
            <a:ext cx="3057049" cy="3182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Contextes professionnels</a:t>
            </a:r>
            <a:endParaRPr lang="en-US" sz="20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6930628" y="4057650"/>
            <a:ext cx="407432" cy="22860"/>
          </a:xfrm>
          <a:prstGeom prst="roundRect">
            <a:avLst>
              <a:gd name="adj" fmla="val 374376"/>
            </a:avLst>
          </a:prstGeom>
          <a:solidFill>
            <a:srgbClr val="56565B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8821" y="3992701"/>
            <a:ext cx="152757" cy="152757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222546" y="3909893"/>
            <a:ext cx="3277672" cy="3182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5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Compétences développées</a:t>
            </a:r>
            <a:endParaRPr lang="en-US" sz="20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3" name="Shape 8"/>
          <p:cNvSpPr/>
          <p:nvPr/>
        </p:nvSpPr>
        <p:spPr>
          <a:xfrm>
            <a:off x="7292340" y="5090755"/>
            <a:ext cx="407432" cy="22860"/>
          </a:xfrm>
          <a:prstGeom prst="roundRect">
            <a:avLst>
              <a:gd name="adj" fmla="val 374376"/>
            </a:avLst>
          </a:prstGeom>
          <a:solidFill>
            <a:srgbClr val="56565B"/>
          </a:solidFill>
          <a:ln/>
        </p:spPr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8821" y="5025807"/>
            <a:ext cx="152757" cy="152757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8130183" y="4942999"/>
            <a:ext cx="2546985" cy="3182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Veille technologique</a:t>
            </a:r>
            <a:endParaRPr lang="en-US" sz="20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6" name="Text 10"/>
          <p:cNvSpPr/>
          <p:nvPr/>
        </p:nvSpPr>
        <p:spPr>
          <a:xfrm>
            <a:off x="8130183" y="5371028"/>
            <a:ext cx="5707856" cy="3093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endParaRPr lang="en-US" sz="16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7" name="Shape 11"/>
          <p:cNvSpPr/>
          <p:nvPr/>
        </p:nvSpPr>
        <p:spPr>
          <a:xfrm>
            <a:off x="6930628" y="6123861"/>
            <a:ext cx="407432" cy="22860"/>
          </a:xfrm>
          <a:prstGeom prst="roundRect">
            <a:avLst>
              <a:gd name="adj" fmla="val 374376"/>
            </a:avLst>
          </a:prstGeom>
          <a:solidFill>
            <a:srgbClr val="56565B"/>
          </a:solidFill>
          <a:ln/>
        </p:spPr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8821" y="6058912"/>
            <a:ext cx="152757" cy="152757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836551" y="5976104"/>
            <a:ext cx="2663666" cy="3182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5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Bilan et ambition futur</a:t>
            </a:r>
            <a:endParaRPr lang="en-US" sz="20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26C904A-2871-426C-A702-0D2A29CAC2C5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635562"/>
            <a:ext cx="8023265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Mon </a:t>
            </a:r>
            <a:r>
              <a:rPr lang="en-US" sz="4800" b="1" dirty="0" err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évolution</a:t>
            </a: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 </a:t>
            </a:r>
            <a:r>
              <a:rPr lang="en-US" sz="4800" b="1" dirty="0" err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professionnelle</a:t>
            </a:r>
            <a:endParaRPr lang="en-US" sz="4800" b="1" dirty="0">
              <a:gradFill flip="none" rotWithShape="1">
                <a:gsLst>
                  <a:gs pos="0">
                    <a:srgbClr val="96989C">
                      <a:alpha val="10196"/>
                      <a:lumMod val="0"/>
                      <a:lumOff val="100000"/>
                    </a:srgbClr>
                  </a:gs>
                  <a:gs pos="50000">
                    <a:schemeClr val="bg1">
                      <a:shade val="67500"/>
                      <a:satMod val="115000"/>
                      <a:lumMod val="70000"/>
                      <a:lumOff val="30000"/>
                    </a:schemeClr>
                  </a:gs>
                  <a:gs pos="100000">
                    <a:schemeClr val="bg1">
                      <a:shade val="100000"/>
                      <a:satMod val="115000"/>
                    </a:schemeClr>
                  </a:gs>
                </a:gsLst>
                <a:lin ang="2700000" scaled="1"/>
                <a:tileRect/>
              </a:gradFill>
              <a:latin typeface="Instrument sans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93790" y="2911316"/>
            <a:ext cx="13057822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en-US" sz="2400" b="1" u="sng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Stage EMHA                                               Stage IGBMC                                              </a:t>
            </a:r>
            <a:r>
              <a:rPr lang="en-US" sz="2400" b="1" u="sng" dirty="0" err="1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Parcours</a:t>
            </a:r>
            <a:r>
              <a:rPr lang="en-US" sz="2400" b="1" u="sng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 future                 </a:t>
            </a:r>
            <a:endParaRPr lang="en-US" sz="2400" b="1" u="sng" dirty="0">
              <a:solidFill>
                <a:schemeClr val="bg1"/>
              </a:solidFill>
              <a:latin typeface="Instrument sans" pitchFamily="2" charset="0"/>
            </a:endParaRPr>
          </a:p>
          <a:p>
            <a:pPr marL="0" indent="0" algn="l">
              <a:lnSpc>
                <a:spcPts val="2750"/>
              </a:lnSpc>
              <a:buNone/>
            </a:pPr>
            <a:endParaRPr lang="en-US" sz="22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93790" y="3569017"/>
            <a:ext cx="3979545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Résolution de tickets, préparation de postes de travail, gestion Active Directory. Découverte du travail en mode projet.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5334357" y="3356372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endParaRPr lang="en-US" sz="26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326142" y="3567261"/>
            <a:ext cx="3978116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Gestion de déploiements lourds d'OS. Configuration avancée de firmwares et automatisation de tache.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9872067" y="3569017"/>
            <a:ext cx="397811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Alternance pour la 3ème </a:t>
            </a:r>
            <a:r>
              <a:rPr lang="en-US" sz="1750" dirty="0" err="1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années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 L'école sera le CESI ou CCI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21C7776-5ED4-4344-8772-C0E8CC293299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682472"/>
            <a:ext cx="680882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>
              <a:lnSpc>
                <a:spcPts val="5550"/>
              </a:lnSpc>
              <a:buNone/>
            </a:pPr>
            <a:r>
              <a:rPr lang="en-US" sz="4800" b="1" dirty="0" err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Contextes</a:t>
            </a: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 </a:t>
            </a:r>
            <a:r>
              <a:rPr lang="en-US" sz="4800" b="1" dirty="0" err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professionnels</a:t>
            </a:r>
            <a:endParaRPr lang="en-US" sz="4800" b="1" dirty="0">
              <a:gradFill flip="none" rotWithShape="1">
                <a:gsLst>
                  <a:gs pos="0">
                    <a:srgbClr val="96989C">
                      <a:alpha val="10196"/>
                      <a:lumMod val="0"/>
                      <a:lumOff val="100000"/>
                    </a:srgbClr>
                  </a:gs>
                  <a:gs pos="50000">
                    <a:schemeClr val="bg1">
                      <a:shade val="67500"/>
                      <a:satMod val="115000"/>
                      <a:lumMod val="70000"/>
                      <a:lumOff val="30000"/>
                    </a:schemeClr>
                  </a:gs>
                  <a:gs pos="100000">
                    <a:schemeClr val="bg1">
                      <a:shade val="100000"/>
                      <a:satMod val="115000"/>
                    </a:schemeClr>
                  </a:gs>
                </a:gsLst>
                <a:lin ang="2700000" scaled="1"/>
                <a:tileRect/>
              </a:gradFill>
              <a:latin typeface="Instrument sans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93790" y="2958227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b="1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EMHA</a:t>
            </a:r>
            <a:endParaRPr lang="en-US" sz="2650" b="1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793790" y="3610332"/>
            <a:ext cx="6244709" cy="2494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Pôle Habitat Social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Entité regroupant Ophéa, Habitation Moderne et Foyer Moderne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500 employés au siège et 17 lieux d'accueil physique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4 employés au service informatique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600/700 postes Windows et 100/150 tablettes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599521" y="2958227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b="1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IGBMC</a:t>
            </a:r>
            <a:endParaRPr lang="en-US" sz="2650" b="1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599521" y="3610332"/>
            <a:ext cx="6244709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Institut de recherche scientifique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Travaillant pour le CNRS, l'Inserm et l'Université de Strasbourg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570 personnels de recherche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16 personnes au service informatique : 4 dev, 5 Infra, et 6 Gestion de parc + 1 responsable du SI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+ 1000 postes Windows, MacOS et Linux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9D97931-6471-4F30-A6CF-84D02309DF86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6862"/>
            <a:ext cx="12706469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sz="4800" b="1" dirty="0" err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Compétence</a:t>
            </a: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 – </a:t>
            </a:r>
            <a:r>
              <a:rPr lang="en-US" sz="4800" b="1" dirty="0" err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Gérer</a:t>
            </a: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 le </a:t>
            </a:r>
            <a:r>
              <a:rPr lang="en-US" sz="4800" b="1" dirty="0" err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patrimoine</a:t>
            </a: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 </a:t>
            </a:r>
          </a:p>
          <a:p>
            <a:pPr>
              <a:lnSpc>
                <a:spcPts val="5550"/>
              </a:lnSpc>
            </a:pPr>
            <a:r>
              <a:rPr lang="en-US" sz="4800" b="1" dirty="0" err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informatique</a:t>
            </a:r>
            <a:endParaRPr lang="en-US" sz="4800" b="1" dirty="0">
              <a:gradFill flip="none" rotWithShape="1">
                <a:gsLst>
                  <a:gs pos="0">
                    <a:srgbClr val="96989C">
                      <a:alpha val="10196"/>
                      <a:lumMod val="0"/>
                      <a:lumOff val="100000"/>
                    </a:srgbClr>
                  </a:gs>
                  <a:gs pos="50000">
                    <a:schemeClr val="bg1">
                      <a:shade val="67500"/>
                      <a:satMod val="115000"/>
                      <a:lumMod val="70000"/>
                      <a:lumOff val="30000"/>
                    </a:schemeClr>
                  </a:gs>
                  <a:gs pos="100000">
                    <a:schemeClr val="bg1">
                      <a:shade val="100000"/>
                      <a:satMod val="115000"/>
                    </a:schemeClr>
                  </a:gs>
                </a:gsLst>
                <a:lin ang="2700000" scaled="1"/>
                <a:tileRect/>
              </a:gradFill>
              <a:latin typeface="Instrument sans" pitchFamily="2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93790" y="4087892"/>
            <a:ext cx="4196358" cy="1730812"/>
          </a:xfrm>
          <a:prstGeom prst="roundRect">
            <a:avLst>
              <a:gd name="adj" fmla="val 5504"/>
            </a:avLst>
          </a:prstGeom>
          <a:solidFill>
            <a:srgbClr val="2A2A2D">
              <a:alpha val="95000"/>
            </a:srgbClr>
          </a:solidFill>
          <a:ln w="30480">
            <a:solidFill>
              <a:srgbClr val="56565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1084" y="434518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Inventaire</a:t>
            </a:r>
            <a:endParaRPr lang="en-US" sz="22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51084" y="4835604"/>
            <a:ext cx="368177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Gestion avec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KACE SMA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 (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K1000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)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216962" y="4087892"/>
            <a:ext cx="4196358" cy="1730812"/>
          </a:xfrm>
          <a:prstGeom prst="roundRect">
            <a:avLst>
              <a:gd name="adj" fmla="val 5504"/>
            </a:avLst>
          </a:prstGeom>
          <a:solidFill>
            <a:srgbClr val="2A2A2D">
              <a:alpha val="95000"/>
            </a:srgbClr>
          </a:solidFill>
          <a:ln w="30480">
            <a:solidFill>
              <a:srgbClr val="5656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74256" y="434518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Active Directory</a:t>
            </a:r>
            <a:endParaRPr lang="en-US" sz="22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74256" y="4835604"/>
            <a:ext cx="368177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Application de règles de nommage strictes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9640133" y="4087892"/>
            <a:ext cx="4196358" cy="1730812"/>
          </a:xfrm>
          <a:prstGeom prst="roundRect">
            <a:avLst>
              <a:gd name="adj" fmla="val 5504"/>
            </a:avLst>
          </a:prstGeom>
          <a:solidFill>
            <a:srgbClr val="2A2A2D">
              <a:alpha val="95000"/>
            </a:srgbClr>
          </a:solidFill>
          <a:ln w="30480">
            <a:solidFill>
              <a:srgbClr val="5656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97427" y="434518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Flotte mobile</a:t>
            </a:r>
            <a:endParaRPr lang="en-US" sz="22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897427" y="4835604"/>
            <a:ext cx="368177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Gestion via profils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MDM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 Microsoft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Intune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 et Samsung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Knox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D8D273-B9E2-4675-937F-9ED7790B9EDF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5600" y="1947600"/>
            <a:ext cx="130428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>
              <a:lnSpc>
                <a:spcPts val="5550"/>
              </a:lnSpc>
              <a:buNone/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Compétence - Répondre aux incidents </a:t>
            </a:r>
          </a:p>
          <a:p>
            <a:pPr indent="0">
              <a:lnSpc>
                <a:spcPts val="5550"/>
              </a:lnSpc>
              <a:buNone/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et </a:t>
            </a:r>
            <a:r>
              <a:rPr lang="en-US" sz="4800" b="1" dirty="0" err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demandes</a:t>
            </a:r>
            <a:endParaRPr lang="en-US" sz="4800" b="1" dirty="0">
              <a:gradFill flip="none" rotWithShape="1">
                <a:gsLst>
                  <a:gs pos="0">
                    <a:srgbClr val="96989C">
                      <a:alpha val="10196"/>
                      <a:lumMod val="0"/>
                      <a:lumOff val="100000"/>
                    </a:srgbClr>
                  </a:gs>
                  <a:gs pos="50000">
                    <a:schemeClr val="bg1">
                      <a:shade val="67500"/>
                      <a:satMod val="115000"/>
                      <a:lumMod val="70000"/>
                      <a:lumOff val="30000"/>
                    </a:schemeClr>
                  </a:gs>
                  <a:gs pos="100000">
                    <a:schemeClr val="bg1">
                      <a:shade val="100000"/>
                      <a:satMod val="115000"/>
                    </a:schemeClr>
                  </a:gs>
                </a:gsLst>
                <a:lin ang="2700000" scaled="1"/>
                <a:tileRect/>
              </a:gradFill>
              <a:latin typeface="Instrument sans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93790" y="3751898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Support N1/N2.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93790" y="4369951"/>
            <a:ext cx="13042821" cy="1978819"/>
          </a:xfrm>
          <a:prstGeom prst="roundRect">
            <a:avLst>
              <a:gd name="adj" fmla="val 4814"/>
            </a:avLst>
          </a:prstGeom>
          <a:solidFill>
            <a:srgbClr val="4D4D4D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604" y="4683443"/>
            <a:ext cx="425291" cy="3401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72709" y="4653439"/>
            <a:ext cx="3747968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Support et intervention</a:t>
            </a:r>
            <a:endParaRPr lang="en-US" sz="26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1672709" y="5305544"/>
            <a:ext cx="11937087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Logiciel de ticket, processus de réponse aux incidents/demande à appliquer, « never trust user input », escale au pole/service concerné.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21BD47-A818-4DA7-B6F2-488EF3ED671F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7600"/>
            <a:ext cx="130428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Compétence - </a:t>
            </a:r>
            <a:r>
              <a:rPr lang="en-US" sz="4800" b="1" dirty="0" err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Mettre</a:t>
            </a: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 à disposition un service (Windows)</a:t>
            </a:r>
          </a:p>
        </p:txBody>
      </p:sp>
      <p:sp>
        <p:nvSpPr>
          <p:cNvPr id="3" name="Text 1"/>
          <p:cNvSpPr/>
          <p:nvPr/>
        </p:nvSpPr>
        <p:spPr>
          <a:xfrm>
            <a:off x="793790" y="4205645"/>
            <a:ext cx="13042821" cy="168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Industrialisation des déploiements Windows 11 via l'appliance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KACE SDA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 (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K2000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).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Création d'environnements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KBE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 bootables.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Boot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PXE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.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Configurations de sécurité du firmware :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BIOS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/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UEFI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, activation du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TPM 2.0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, et gestion du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Secure Boot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 / HP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Sure Start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.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387B7E-B5ED-41BE-B3D9-9C59A7BAD001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7600"/>
            <a:ext cx="130428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>
              <a:lnSpc>
                <a:spcPts val="5550"/>
              </a:lnSpc>
              <a:buNone/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Compétence - Mettre à disposition un service (macOS)</a:t>
            </a: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910" y="3811429"/>
            <a:ext cx="4347567" cy="9072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20724" y="4945499"/>
            <a:ext cx="3428524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Provisioning "Zero Touch"</a:t>
            </a:r>
            <a:endParaRPr lang="en-US" sz="22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1020724" y="5435917"/>
            <a:ext cx="389393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Via Apple Device Enrollment (ADE) et Mosyle.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1477" y="3811429"/>
            <a:ext cx="4347567" cy="9072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368291" y="4945499"/>
            <a:ext cx="3893939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Automatisation post-installation</a:t>
            </a:r>
            <a:endParaRPr lang="en-US" sz="22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8" name="Text 4"/>
          <p:cNvSpPr/>
          <p:nvPr/>
        </p:nvSpPr>
        <p:spPr>
          <a:xfrm>
            <a:off x="5368291" y="5790247"/>
            <a:ext cx="389393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Scripts Bash (nommage AD, montage de lecteurs réseau).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89044" y="3811429"/>
            <a:ext cx="4347567" cy="90725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715858" y="494549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Intégration réseau</a:t>
            </a:r>
            <a:endParaRPr lang="en-US" sz="22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1" name="Text 6"/>
          <p:cNvSpPr/>
          <p:nvPr/>
        </p:nvSpPr>
        <p:spPr>
          <a:xfrm>
            <a:off x="9715858" y="5435917"/>
            <a:ext cx="389393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Vérification FileVault, Wifi Eduroam, VPN PaloAlto.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6CAB53-F228-412D-8EA4-D2D2291AC406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7600"/>
            <a:ext cx="10554295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Compétence - Travailler en mode </a:t>
            </a:r>
            <a:r>
              <a:rPr lang="en-US" sz="4800" b="1" dirty="0" err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projet</a:t>
            </a:r>
            <a:endParaRPr lang="en-US" sz="4800" b="1" dirty="0">
              <a:gradFill flip="none" rotWithShape="1">
                <a:gsLst>
                  <a:gs pos="0">
                    <a:srgbClr val="96989C">
                      <a:alpha val="10196"/>
                      <a:lumMod val="0"/>
                      <a:lumOff val="100000"/>
                    </a:srgbClr>
                  </a:gs>
                  <a:gs pos="50000">
                    <a:schemeClr val="bg1">
                      <a:shade val="67500"/>
                      <a:satMod val="115000"/>
                      <a:lumMod val="70000"/>
                      <a:lumOff val="30000"/>
                    </a:schemeClr>
                  </a:gs>
                  <a:gs pos="100000">
                    <a:schemeClr val="bg1">
                      <a:shade val="100000"/>
                      <a:satMod val="115000"/>
                    </a:schemeClr>
                  </a:gs>
                </a:gsLst>
                <a:lin ang="2700000" scaled="1"/>
                <a:tileRect/>
              </a:gradFill>
              <a:latin typeface="Instrument sans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93790" y="3105746"/>
            <a:ext cx="3812619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b="1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Projet MDM chez EMHA</a:t>
            </a:r>
            <a:endParaRPr lang="en-US" sz="2650" b="1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793790" y="3757852"/>
            <a:ext cx="6244709" cy="23360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Cadrage du besoin inter-services : réunion, visite sur le terrain des besoins, listage des problèmes rencontrées avec les anciens profils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Création et déploiement des stratégies, profils et inventarisation des tablettes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Test à petite échelle puis mise en production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599521" y="3105746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b="1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Intégration IGBMC</a:t>
            </a:r>
            <a:endParaRPr lang="en-US" sz="2650" b="1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599521" y="3757852"/>
            <a:ext cx="6244709" cy="3016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Intégration d'une nouvelle marque dans le parc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Chaîne de déploiement à adapter :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685800" lvl="1" indent="-342900" algn="l">
              <a:lnSpc>
                <a:spcPts val="2850"/>
              </a:lnSpc>
              <a:buSzPct val="100000"/>
              <a:buChar char="◦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KBE différent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685800" lvl="1" indent="-342900" algn="l">
              <a:lnSpc>
                <a:spcPts val="2850"/>
              </a:lnSpc>
              <a:buSzPct val="100000"/>
              <a:buChar char="◦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Pack de drivers à adapter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685800" lvl="1" indent="-342900" algn="l">
              <a:lnSpc>
                <a:spcPts val="2850"/>
              </a:lnSpc>
              <a:buSzPct val="100000"/>
              <a:buChar char="◦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Adresse MAC de la NIC interne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685800" lvl="1" indent="-342900" algn="l">
              <a:lnSpc>
                <a:spcPts val="2850"/>
              </a:lnSpc>
              <a:buSzPct val="100000"/>
              <a:buChar char="◦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Passthrough dock Lenovo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Test à petite échelle puis mise en production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63DDB1-BCA2-467A-BB0F-C12F59AE9F3A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7600"/>
            <a:ext cx="130428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>
              <a:lnSpc>
                <a:spcPts val="5550"/>
              </a:lnSpc>
              <a:buNone/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Compétence - Présence en ligne &amp; </a:t>
            </a:r>
            <a:r>
              <a:rPr lang="en-US" sz="4800" b="1" dirty="0" err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Organisation</a:t>
            </a: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 </a:t>
            </a:r>
            <a:r>
              <a:rPr lang="en-US" sz="4800" b="1" dirty="0" err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professionnelle</a:t>
            </a:r>
            <a:endParaRPr lang="en-US" sz="4800" b="1" dirty="0">
              <a:gradFill flip="none" rotWithShape="1">
                <a:gsLst>
                  <a:gs pos="0">
                    <a:srgbClr val="96989C">
                      <a:alpha val="10196"/>
                      <a:lumMod val="0"/>
                      <a:lumOff val="100000"/>
                    </a:srgbClr>
                  </a:gs>
                  <a:gs pos="50000">
                    <a:schemeClr val="bg1">
                      <a:shade val="67500"/>
                      <a:satMod val="115000"/>
                      <a:lumMod val="70000"/>
                      <a:lumOff val="30000"/>
                    </a:schemeClr>
                  </a:gs>
                  <a:gs pos="100000">
                    <a:schemeClr val="bg1">
                      <a:shade val="100000"/>
                      <a:satMod val="115000"/>
                    </a:schemeClr>
                  </a:gs>
                </a:gsLst>
                <a:lin ang="2700000" scaled="1"/>
                <a:tileRect/>
              </a:gradFill>
              <a:latin typeface="Instrument sans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93789" y="3933348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Veille technologique sur l'ascension de Proxmox face au monopole de VMware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4E49026-83DF-4C2D-9D1C-8BA8FABE8DE1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7600"/>
            <a:ext cx="11463337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L'ascension de Proxmox face au monopole </a:t>
            </a:r>
          </a:p>
          <a:p>
            <a:pPr>
              <a:lnSpc>
                <a:spcPts val="5550"/>
              </a:lnSpc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de VMware</a:t>
            </a:r>
          </a:p>
        </p:txBody>
      </p:sp>
      <p:sp>
        <p:nvSpPr>
          <p:cNvPr id="3" name="Text 1"/>
          <p:cNvSpPr/>
          <p:nvPr/>
        </p:nvSpPr>
        <p:spPr>
          <a:xfrm>
            <a:off x="793790" y="3428761"/>
            <a:ext cx="6130409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450"/>
              </a:lnSpc>
            </a:pPr>
            <a:r>
              <a:rPr lang="en-US" sz="2800" b="1" dirty="0">
                <a:gradFill flip="none" rotWithShape="1">
                  <a:gsLst>
                    <a:gs pos="0">
                      <a:schemeClr val="bg1">
                        <a:shade val="30000"/>
                        <a:satMod val="115000"/>
                      </a:schemeClr>
                    </a:gs>
                    <a:gs pos="50000">
                      <a:schemeClr val="bg1">
                        <a:shade val="67500"/>
                        <a:satMod val="115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latin typeface="Instrument sans" pitchFamily="2" charset="0"/>
              </a:rPr>
              <a:t>Le séisme Broadcom (Fin 2023 - 2024)</a:t>
            </a:r>
          </a:p>
        </p:txBody>
      </p:sp>
      <p:sp>
        <p:nvSpPr>
          <p:cNvPr id="4" name="Text 2"/>
          <p:cNvSpPr/>
          <p:nvPr/>
        </p:nvSpPr>
        <p:spPr>
          <a:xfrm>
            <a:off x="793790" y="4114800"/>
            <a:ext cx="13042821" cy="168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Rachat de VMware par Broadcom pour 61 milliards $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Fin brutale des licences perpétuelles (ESXi gratuit, c'est fini)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Passage obligatoire à l'abonnement : explosion des coûts pour les TPE/PME (parfois x3 ou x5)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Conséquence :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 Les DSI cherchent urgemment une porte de sortie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947409E-AF1C-48DE-91EF-E5DBA340B67D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7600"/>
            <a:ext cx="10287833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>
              <a:lnSpc>
                <a:spcPts val="5550"/>
              </a:lnSpc>
              <a:buNone/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Proxmox VE : De l'outsider au standard</a:t>
            </a:r>
          </a:p>
        </p:txBody>
      </p:sp>
      <p:sp>
        <p:nvSpPr>
          <p:cNvPr id="3" name="Text 1"/>
          <p:cNvSpPr/>
          <p:nvPr/>
        </p:nvSpPr>
        <p:spPr>
          <a:xfrm>
            <a:off x="793790" y="2649961"/>
            <a:ext cx="4708327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sz="2400" b="1" dirty="0" err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L'alternative</a:t>
            </a:r>
            <a:r>
              <a:rPr lang="en-US" sz="24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 </a:t>
            </a:r>
            <a:r>
              <a:rPr lang="en-US" sz="2400" b="1" dirty="0" err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gagnante</a:t>
            </a:r>
            <a:endParaRPr lang="en-US" sz="2400" b="1" dirty="0">
              <a:gradFill flip="none" rotWithShape="1">
                <a:gsLst>
                  <a:gs pos="0">
                    <a:srgbClr val="96989C">
                      <a:alpha val="10196"/>
                      <a:lumMod val="0"/>
                      <a:lumOff val="100000"/>
                    </a:srgbClr>
                  </a:gs>
                  <a:gs pos="50000">
                    <a:schemeClr val="bg1">
                      <a:shade val="67500"/>
                      <a:satMod val="115000"/>
                      <a:lumMod val="70000"/>
                      <a:lumOff val="30000"/>
                    </a:schemeClr>
                  </a:gs>
                  <a:gs pos="100000">
                    <a:schemeClr val="bg1">
                      <a:shade val="100000"/>
                      <a:satMod val="115000"/>
                    </a:schemeClr>
                  </a:gs>
                </a:gsLst>
                <a:lin ang="2700000" scaled="1"/>
                <a:tileRect/>
              </a:gradFill>
              <a:latin typeface="Instrument sans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793789" y="3358740"/>
            <a:ext cx="13042821" cy="12472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Solution open-source basée sur Debian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Modèle économique rassurant (gratuit à l'utilisation, support pro abordable)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Intégration native de KVM (Machines Virtuelles) et LXC (Conteneurs)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DF8DD9E-661B-459C-A042-48628FFEC09E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7600"/>
            <a:ext cx="1198137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>
              <a:lnSpc>
                <a:spcPts val="5550"/>
              </a:lnSpc>
              <a:buNone/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Pourquoi les entreprises franchissent le pas ?</a:t>
            </a:r>
          </a:p>
        </p:txBody>
      </p:sp>
      <p:sp>
        <p:nvSpPr>
          <p:cNvPr id="3" name="Text 1"/>
          <p:cNvSpPr/>
          <p:nvPr/>
        </p:nvSpPr>
        <p:spPr>
          <a:xfrm>
            <a:off x="793790" y="2832616"/>
            <a:ext cx="8900636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sz="24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Les arguments techniques de la migration</a:t>
            </a:r>
          </a:p>
        </p:txBody>
      </p:sp>
      <p:sp>
        <p:nvSpPr>
          <p:cNvPr id="4" name="Shape 2"/>
          <p:cNvSpPr/>
          <p:nvPr/>
        </p:nvSpPr>
        <p:spPr>
          <a:xfrm>
            <a:off x="793790" y="3739753"/>
            <a:ext cx="4196358" cy="2456617"/>
          </a:xfrm>
          <a:prstGeom prst="roundRect">
            <a:avLst>
              <a:gd name="adj" fmla="val 5956"/>
            </a:avLst>
          </a:prstGeom>
          <a:solidFill>
            <a:srgbClr val="2A2A2D">
              <a:alpha val="95000"/>
            </a:srgbClr>
          </a:solidFill>
          <a:ln w="30480">
            <a:solidFill>
              <a:srgbClr val="56565B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310" y="3739753"/>
            <a:ext cx="121920" cy="245661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42524" y="399704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L'outil clé (Mi-2024) :</a:t>
            </a:r>
            <a:endParaRPr lang="en-US" sz="22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1142524" y="4487466"/>
            <a:ext cx="35903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Sortie de l'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Import Wizard 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natif (migration directe d'une VM de vSphere vers Proxmox en quelques clics)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5216962" y="3739753"/>
            <a:ext cx="4196358" cy="2456617"/>
          </a:xfrm>
          <a:prstGeom prst="roundRect">
            <a:avLst>
              <a:gd name="adj" fmla="val 5956"/>
            </a:avLst>
          </a:prstGeom>
          <a:solidFill>
            <a:srgbClr val="2A2A2D">
              <a:alpha val="95000"/>
            </a:srgbClr>
          </a:solidFill>
          <a:ln w="30480">
            <a:solidFill>
              <a:srgbClr val="56565B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6482" y="3739753"/>
            <a:ext cx="121920" cy="245661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565696" y="399704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L'écosystème suit :</a:t>
            </a:r>
            <a:endParaRPr lang="en-US" sz="22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1" name="Text 7"/>
          <p:cNvSpPr/>
          <p:nvPr/>
        </p:nvSpPr>
        <p:spPr>
          <a:xfrm>
            <a:off x="5565696" y="4487466"/>
            <a:ext cx="35903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Les géants de la sauvegarde d'entreprise (comme Veeam) intègrent le support officiel de Proxmox VE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9640133" y="3739753"/>
            <a:ext cx="4196358" cy="2456617"/>
          </a:xfrm>
          <a:prstGeom prst="roundRect">
            <a:avLst>
              <a:gd name="adj" fmla="val 5956"/>
            </a:avLst>
          </a:prstGeom>
          <a:solidFill>
            <a:srgbClr val="2A2A2D">
              <a:alpha val="95000"/>
            </a:srgbClr>
          </a:solidFill>
          <a:ln w="30480">
            <a:solidFill>
              <a:srgbClr val="56565B"/>
            </a:solidFill>
            <a:prstDash val="solid"/>
          </a:ln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9653" y="3739753"/>
            <a:ext cx="121920" cy="245661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988868" y="3997047"/>
            <a:ext cx="359033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Clustering et Haute Disponibilité (HA) :</a:t>
            </a:r>
            <a:endParaRPr lang="en-US" sz="22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5" name="Text 10"/>
          <p:cNvSpPr/>
          <p:nvPr/>
        </p:nvSpPr>
        <p:spPr>
          <a:xfrm>
            <a:off x="9988868" y="4841796"/>
            <a:ext cx="359033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Inclus nativement sans surcoût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4C39FA7-BE40-463A-B668-F0B44BA041D6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Instrument sans" pitchFamily="2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8AF21AC-2931-4E2E-B8A8-6FDBD9A3B871}"/>
              </a:ext>
            </a:extLst>
          </p:cNvPr>
          <p:cNvSpPr/>
          <p:nvPr/>
        </p:nvSpPr>
        <p:spPr>
          <a:xfrm>
            <a:off x="12927568" y="78695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888682"/>
            <a:ext cx="698408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Ma méthodologie de </a:t>
            </a:r>
            <a:r>
              <a:rPr lang="en-US" sz="4800" b="1" dirty="0" err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veille</a:t>
            </a:r>
            <a:endParaRPr lang="en-US" sz="4800" b="1" dirty="0">
              <a:gradFill flip="none" rotWithShape="1">
                <a:gsLst>
                  <a:gs pos="0">
                    <a:srgbClr val="96989C">
                      <a:alpha val="10196"/>
                      <a:lumMod val="0"/>
                      <a:lumOff val="100000"/>
                    </a:srgbClr>
                  </a:gs>
                  <a:gs pos="50000">
                    <a:schemeClr val="bg1">
                      <a:shade val="67500"/>
                      <a:satMod val="115000"/>
                      <a:lumMod val="70000"/>
                      <a:lumOff val="30000"/>
                    </a:schemeClr>
                  </a:gs>
                  <a:gs pos="100000">
                    <a:schemeClr val="bg1">
                      <a:shade val="100000"/>
                      <a:satMod val="115000"/>
                    </a:schemeClr>
                  </a:gs>
                </a:gsLst>
                <a:lin ang="2700000" scaled="1"/>
                <a:tileRect/>
              </a:gradFill>
              <a:latin typeface="Instrument sans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93790" y="1688187"/>
            <a:ext cx="5247203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sz="24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Comment je </a:t>
            </a:r>
            <a:r>
              <a:rPr lang="en-US" sz="2400" b="1" dirty="0" err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m'informe</a:t>
            </a:r>
            <a:r>
              <a:rPr lang="en-US" sz="24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 ?</a:t>
            </a: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3790" y="2595324"/>
            <a:ext cx="566976" cy="566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3790" y="3445788"/>
            <a:ext cx="3095863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Agrégateurs &amp; Alertes :</a:t>
            </a:r>
            <a:endParaRPr lang="en-US" sz="22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793790" y="3936206"/>
            <a:ext cx="6379607" cy="805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Feedly (flux RSS)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Google Alerts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56884" y="2595324"/>
            <a:ext cx="566976" cy="56697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56884" y="344578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Sources Techniques :</a:t>
            </a:r>
            <a:endParaRPr lang="en-US" sz="22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9" name="Text 5"/>
          <p:cNvSpPr/>
          <p:nvPr/>
        </p:nvSpPr>
        <p:spPr>
          <a:xfrm>
            <a:off x="7456884" y="3936206"/>
            <a:ext cx="6379726" cy="805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IT-Connect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documentation officielle Proxmox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3790" y="5194935"/>
            <a:ext cx="566976" cy="56697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93790" y="6045398"/>
            <a:ext cx="4062174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Sources Économiques &amp; Actu :</a:t>
            </a:r>
            <a:endParaRPr lang="en-US" sz="22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2" name="Text 7"/>
          <p:cNvSpPr/>
          <p:nvPr/>
        </p:nvSpPr>
        <p:spPr>
          <a:xfrm>
            <a:off x="793790" y="6535817"/>
            <a:ext cx="6379607" cy="805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LeMagIT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ZDNet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456884" y="5194935"/>
            <a:ext cx="566976" cy="566976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456884" y="604539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Communautés :</a:t>
            </a:r>
            <a:endParaRPr lang="en-US" sz="22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5" name="Text 9"/>
          <p:cNvSpPr/>
          <p:nvPr/>
        </p:nvSpPr>
        <p:spPr>
          <a:xfrm>
            <a:off x="7456884" y="6535817"/>
            <a:ext cx="637972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Reddit (r/sysadmin, r/proxmox) pour les retours terrain des administrateurs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1C12BDF-7AAE-4132-A756-97D73748334B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123837"/>
            <a:ext cx="11942802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>
              <a:lnSpc>
                <a:spcPts val="5550"/>
              </a:lnSpc>
              <a:buNone/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Mon positionnement en tant que </a:t>
            </a:r>
            <a:r>
              <a:rPr lang="en-US" sz="4800" b="1" dirty="0" err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futur</a:t>
            </a: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 admin</a:t>
            </a:r>
          </a:p>
        </p:txBody>
      </p:sp>
      <p:sp>
        <p:nvSpPr>
          <p:cNvPr id="3" name="Shape 1"/>
          <p:cNvSpPr/>
          <p:nvPr/>
        </p:nvSpPr>
        <p:spPr>
          <a:xfrm>
            <a:off x="793790" y="3286244"/>
            <a:ext cx="4196358" cy="2819519"/>
          </a:xfrm>
          <a:prstGeom prst="roundRect">
            <a:avLst>
              <a:gd name="adj" fmla="val 5189"/>
            </a:avLst>
          </a:prstGeom>
          <a:solidFill>
            <a:srgbClr val="2A2A2D">
              <a:alpha val="95000"/>
            </a:srgbClr>
          </a:solidFill>
          <a:ln w="30480">
            <a:solidFill>
              <a:srgbClr val="56565B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310" y="3286244"/>
            <a:ext cx="121920" cy="281951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42524" y="3543538"/>
            <a:ext cx="3590330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La virtualisation n'est plus dominée par un seul acteur</a:t>
            </a:r>
            <a:endParaRPr lang="en-US" sz="22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5216962" y="3286244"/>
            <a:ext cx="4196358" cy="2819519"/>
          </a:xfrm>
          <a:prstGeom prst="roundRect">
            <a:avLst>
              <a:gd name="adj" fmla="val 5189"/>
            </a:avLst>
          </a:prstGeom>
          <a:solidFill>
            <a:srgbClr val="2A2A2D">
              <a:alpha val="95000"/>
            </a:srgbClr>
          </a:solidFill>
          <a:ln w="30480">
            <a:solidFill>
              <a:srgbClr val="56565B"/>
            </a:solidFill>
            <a:prstDash val="solid"/>
          </a:ln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6482" y="3286244"/>
            <a:ext cx="121920" cy="281951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565696" y="3543538"/>
            <a:ext cx="3590330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L'importance de l'Open-Source dans les infrastructures critiques</a:t>
            </a:r>
            <a:endParaRPr lang="en-US" sz="22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9" name="Shape 5"/>
          <p:cNvSpPr/>
          <p:nvPr/>
        </p:nvSpPr>
        <p:spPr>
          <a:xfrm>
            <a:off x="9640133" y="3286244"/>
            <a:ext cx="4196358" cy="2819519"/>
          </a:xfrm>
          <a:prstGeom prst="roundRect">
            <a:avLst>
              <a:gd name="adj" fmla="val 5189"/>
            </a:avLst>
          </a:prstGeom>
          <a:solidFill>
            <a:srgbClr val="2A2A2D">
              <a:alpha val="95000"/>
            </a:srgbClr>
          </a:solidFill>
          <a:ln w="30480">
            <a:solidFill>
              <a:srgbClr val="56565B"/>
            </a:solidFill>
            <a:prstDash val="solid"/>
          </a:ln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9653" y="3286244"/>
            <a:ext cx="121920" cy="2819519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988868" y="354353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Mon atout :</a:t>
            </a:r>
            <a:endParaRPr lang="en-US" sz="22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2" name="Text 7"/>
          <p:cNvSpPr/>
          <p:nvPr/>
        </p:nvSpPr>
        <p:spPr>
          <a:xfrm>
            <a:off x="9988868" y="4033957"/>
            <a:ext cx="3590330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La maîtrise simultanée de VMware et de Proxmox me permet d'accompagner les entreprises dans leur transition matérielle et logicielle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2D5435-3A8F-4E12-9A56-F97511E242D0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3352086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Bilan et Perspectives</a:t>
            </a:r>
          </a:p>
        </p:txBody>
      </p:sp>
      <p:sp>
        <p:nvSpPr>
          <p:cNvPr id="3" name="Text 1"/>
          <p:cNvSpPr/>
          <p:nvPr/>
        </p:nvSpPr>
        <p:spPr>
          <a:xfrm>
            <a:off x="793790" y="4514493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Remerciements au jury.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D1F949-DDC8-44A1-8A53-CC1A9F18DA78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63</TotalTime>
  <Words>797</Words>
  <Application>Microsoft Office PowerPoint</Application>
  <PresentationFormat>Personnalisé</PresentationFormat>
  <Paragraphs>125</Paragraphs>
  <Slides>16</Slides>
  <Notes>16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0" baseType="lpstr">
      <vt:lpstr>Arial</vt:lpstr>
      <vt:lpstr>Instrument Sans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lastModifiedBy>CAYEUX Théo</cp:lastModifiedBy>
  <cp:revision>11</cp:revision>
  <dcterms:created xsi:type="dcterms:W3CDTF">2026-03-02T14:57:19Z</dcterms:created>
  <dcterms:modified xsi:type="dcterms:W3CDTF">2026-03-02T16:14:09Z</dcterms:modified>
</cp:coreProperties>
</file>