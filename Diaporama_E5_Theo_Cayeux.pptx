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Overpass" pitchFamily="2" charset="0"/>
      <p:regular r:id="rId14"/>
      <p:bold r:id="rId15"/>
      <p:italic r:id="rId16"/>
      <p:boldItalic r:id="rId17"/>
    </p:embeddedFont>
    <p:embeddedFont>
      <p:font typeface="Overpass Bold" pitchFamily="2" charset="0"/>
      <p:bold r:id="rId18"/>
    </p:embeddedFont>
    <p:embeddedFont>
      <p:font typeface="Overpass Light" pitchFamily="2" charset="0"/>
      <p:regular r:id="rId19"/>
      <p:italic r:id="rId20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8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676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37724" y="2358271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fr-FR" sz="4400" b="1" noProof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Épreuve E5 - Support et mise à disposition de services informatiques</a:t>
            </a:r>
            <a:endParaRPr lang="fr-FR" sz="4400" noProof="0" dirty="0"/>
          </a:p>
        </p:txBody>
      </p:sp>
      <p:sp>
        <p:nvSpPr>
          <p:cNvPr id="4" name="Text 1"/>
          <p:cNvSpPr/>
          <p:nvPr/>
        </p:nvSpPr>
        <p:spPr>
          <a:xfrm>
            <a:off x="837724" y="4566047"/>
            <a:ext cx="605159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fr-FR" sz="3500" b="1" noProof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BTS SIO SISR - Session 2025</a:t>
            </a:r>
            <a:endParaRPr lang="fr-FR" sz="3500" noProof="0" dirty="0"/>
          </a:p>
        </p:txBody>
      </p:sp>
      <p:sp>
        <p:nvSpPr>
          <p:cNvPr id="5" name="Text 2"/>
          <p:cNvSpPr/>
          <p:nvPr/>
        </p:nvSpPr>
        <p:spPr>
          <a:xfrm>
            <a:off x="837724" y="5488305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Nom et Prénom : Théo CAYEUX</a:t>
            </a:r>
            <a:endParaRPr lang="fr-FR" sz="1850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CBD939-09ED-AFAE-87B7-41726FA26FC4}"/>
              </a:ext>
            </a:extLst>
          </p:cNvPr>
          <p:cNvSpPr/>
          <p:nvPr/>
        </p:nvSpPr>
        <p:spPr>
          <a:xfrm>
            <a:off x="12871048" y="7697165"/>
            <a:ext cx="1759352" cy="532435"/>
          </a:xfrm>
          <a:prstGeom prst="rect">
            <a:avLst/>
          </a:prstGeom>
          <a:solidFill>
            <a:srgbClr val="24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1652" y="658892"/>
            <a:ext cx="5591056" cy="698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fr-FR" sz="4400" b="1" noProof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Sommaire</a:t>
            </a:r>
            <a:endParaRPr lang="fr-FR" sz="4400" noProof="0" dirty="0"/>
          </a:p>
        </p:txBody>
      </p:sp>
      <p:sp>
        <p:nvSpPr>
          <p:cNvPr id="3" name="Shape 1"/>
          <p:cNvSpPr/>
          <p:nvPr/>
        </p:nvSpPr>
        <p:spPr>
          <a:xfrm>
            <a:off x="7299960" y="1711523"/>
            <a:ext cx="30480" cy="5859185"/>
          </a:xfrm>
          <a:prstGeom prst="roundRect">
            <a:avLst>
              <a:gd name="adj" fmla="val 327429"/>
            </a:avLst>
          </a:prstGeom>
          <a:solidFill>
            <a:srgbClr val="971B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6870502" y="1963579"/>
            <a:ext cx="475178" cy="30480"/>
          </a:xfrm>
          <a:prstGeom prst="roundRect">
            <a:avLst>
              <a:gd name="adj" fmla="val 327429"/>
            </a:avLst>
          </a:prstGeom>
          <a:solidFill>
            <a:srgbClr val="971B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7226141" y="1889760"/>
            <a:ext cx="178118" cy="178118"/>
          </a:xfrm>
          <a:prstGeom prst="roundRect">
            <a:avLst>
              <a:gd name="adj" fmla="val 256684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2470547" y="1793200"/>
            <a:ext cx="3894177" cy="349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fr-FR" sz="2200" b="1" noProof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Mon évolution professionnelle</a:t>
            </a:r>
            <a:endParaRPr lang="fr-FR" sz="2200" noProof="0" dirty="0"/>
          </a:p>
        </p:txBody>
      </p:sp>
      <p:sp>
        <p:nvSpPr>
          <p:cNvPr id="7" name="Shape 5"/>
          <p:cNvSpPr/>
          <p:nvPr/>
        </p:nvSpPr>
        <p:spPr>
          <a:xfrm>
            <a:off x="7284720" y="3385780"/>
            <a:ext cx="475178" cy="30480"/>
          </a:xfrm>
          <a:prstGeom prst="roundRect">
            <a:avLst>
              <a:gd name="adj" fmla="val 327429"/>
            </a:avLst>
          </a:prstGeom>
          <a:solidFill>
            <a:srgbClr val="971B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7226141" y="3311962"/>
            <a:ext cx="178118" cy="178118"/>
          </a:xfrm>
          <a:prstGeom prst="roundRect">
            <a:avLst>
              <a:gd name="adj" fmla="val 256684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8265676" y="3215402"/>
            <a:ext cx="3270290" cy="349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fr-FR" sz="2200" b="1" noProof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Contextes professionnels</a:t>
            </a:r>
            <a:endParaRPr lang="fr-FR" sz="2200" noProof="0" dirty="0"/>
          </a:p>
        </p:txBody>
      </p:sp>
      <p:sp>
        <p:nvSpPr>
          <p:cNvPr id="10" name="Shape 8"/>
          <p:cNvSpPr/>
          <p:nvPr/>
        </p:nvSpPr>
        <p:spPr>
          <a:xfrm>
            <a:off x="6870502" y="4612958"/>
            <a:ext cx="475178" cy="30480"/>
          </a:xfrm>
          <a:prstGeom prst="roundRect">
            <a:avLst>
              <a:gd name="adj" fmla="val 327429"/>
            </a:avLst>
          </a:prstGeom>
          <a:solidFill>
            <a:srgbClr val="971B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/>
          <p:cNvSpPr/>
          <p:nvPr/>
        </p:nvSpPr>
        <p:spPr>
          <a:xfrm>
            <a:off x="7226141" y="4539139"/>
            <a:ext cx="178118" cy="178118"/>
          </a:xfrm>
          <a:prstGeom prst="roundRect">
            <a:avLst>
              <a:gd name="adj" fmla="val 256684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3163253" y="4442579"/>
            <a:ext cx="3201472" cy="349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fr-FR" sz="2200" b="1" noProof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Compétences développées</a:t>
            </a:r>
            <a:endParaRPr lang="fr-FR" sz="2200" noProof="0" dirty="0"/>
          </a:p>
        </p:txBody>
      </p:sp>
      <p:sp>
        <p:nvSpPr>
          <p:cNvPr id="13" name="Text 11"/>
          <p:cNvSpPr/>
          <p:nvPr/>
        </p:nvSpPr>
        <p:spPr>
          <a:xfrm>
            <a:off x="831652" y="4933474"/>
            <a:ext cx="5533073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950"/>
              </a:lnSpc>
              <a:buNone/>
            </a:pPr>
            <a:endParaRPr lang="fr-FR" sz="1850" noProof="0" dirty="0"/>
          </a:p>
        </p:txBody>
      </p:sp>
      <p:sp>
        <p:nvSpPr>
          <p:cNvPr id="14" name="Shape 12"/>
          <p:cNvSpPr/>
          <p:nvPr/>
        </p:nvSpPr>
        <p:spPr>
          <a:xfrm>
            <a:off x="7284720" y="5840135"/>
            <a:ext cx="475178" cy="30480"/>
          </a:xfrm>
          <a:prstGeom prst="roundRect">
            <a:avLst>
              <a:gd name="adj" fmla="val 327429"/>
            </a:avLst>
          </a:prstGeom>
          <a:solidFill>
            <a:srgbClr val="971B55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7226141" y="5766316"/>
            <a:ext cx="178118" cy="178118"/>
          </a:xfrm>
          <a:prstGeom prst="roundRect">
            <a:avLst>
              <a:gd name="adj" fmla="val 256684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8265676" y="5669756"/>
            <a:ext cx="2795468" cy="349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fr-FR" sz="2200" b="1" noProof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Bilan et ambition futur</a:t>
            </a:r>
            <a:endParaRPr lang="fr-FR" sz="2200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E967B5-CEF4-2A6A-C097-B5E01BE04628}"/>
              </a:ext>
            </a:extLst>
          </p:cNvPr>
          <p:cNvSpPr/>
          <p:nvPr/>
        </p:nvSpPr>
        <p:spPr>
          <a:xfrm>
            <a:off x="12871048" y="7697165"/>
            <a:ext cx="1759352" cy="532435"/>
          </a:xfrm>
          <a:prstGeom prst="rect">
            <a:avLst/>
          </a:prstGeom>
          <a:solidFill>
            <a:srgbClr val="24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23273"/>
            <a:ext cx="784812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fr-FR" sz="4400" b="1" noProof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Mon évolution professionnelle</a:t>
            </a:r>
            <a:endParaRPr lang="fr-FR" sz="4400" noProof="0" dirty="0"/>
          </a:p>
        </p:txBody>
      </p:sp>
      <p:sp>
        <p:nvSpPr>
          <p:cNvPr id="3" name="Text 1"/>
          <p:cNvSpPr/>
          <p:nvPr/>
        </p:nvSpPr>
        <p:spPr>
          <a:xfrm>
            <a:off x="837724" y="2606040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fr-FR" sz="1850" noProof="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01</a:t>
            </a:r>
            <a:endParaRPr lang="fr-FR" sz="1850" noProof="0" dirty="0"/>
          </a:p>
        </p:txBody>
      </p:sp>
      <p:sp>
        <p:nvSpPr>
          <p:cNvPr id="4" name="Shape 2"/>
          <p:cNvSpPr/>
          <p:nvPr/>
        </p:nvSpPr>
        <p:spPr>
          <a:xfrm>
            <a:off x="837724" y="2982397"/>
            <a:ext cx="4158734" cy="30480"/>
          </a:xfrm>
          <a:prstGeom prst="rect">
            <a:avLst/>
          </a:prstGeom>
          <a:solidFill>
            <a:srgbClr val="F2037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837724" y="3163014"/>
            <a:ext cx="338363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fr-FR" sz="2200" b="1" noProof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1ère année &amp; Stage EMHA</a:t>
            </a:r>
            <a:endParaRPr lang="fr-FR" sz="2200" noProof="0" dirty="0"/>
          </a:p>
        </p:txBody>
      </p:sp>
      <p:sp>
        <p:nvSpPr>
          <p:cNvPr id="6" name="Text 4"/>
          <p:cNvSpPr/>
          <p:nvPr/>
        </p:nvSpPr>
        <p:spPr>
          <a:xfrm>
            <a:off x="837724" y="3658553"/>
            <a:ext cx="41587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fr-FR" sz="1850" u="sng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Support utilisateur et découverte du mode projet</a:t>
            </a:r>
            <a:endParaRPr lang="fr-FR" sz="1850" noProof="0" dirty="0"/>
          </a:p>
        </p:txBody>
      </p:sp>
      <p:sp>
        <p:nvSpPr>
          <p:cNvPr id="7" name="Text 5"/>
          <p:cNvSpPr/>
          <p:nvPr/>
        </p:nvSpPr>
        <p:spPr>
          <a:xfrm>
            <a:off x="837724" y="4568190"/>
            <a:ext cx="4158734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Résolution de tickets, préparation de postes de travail, gestion basique d'Active Directory. </a:t>
            </a:r>
            <a:endParaRPr lang="fr-FR" sz="1850" noProof="0" dirty="0"/>
          </a:p>
        </p:txBody>
      </p:sp>
      <p:sp>
        <p:nvSpPr>
          <p:cNvPr id="8" name="Text 6"/>
          <p:cNvSpPr/>
          <p:nvPr/>
        </p:nvSpPr>
        <p:spPr>
          <a:xfrm>
            <a:off x="837724" y="5860852"/>
            <a:ext cx="41587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Découverte du travail en mode projet.</a:t>
            </a:r>
            <a:endParaRPr lang="fr-FR" sz="1850" noProof="0" dirty="0"/>
          </a:p>
        </p:txBody>
      </p:sp>
      <p:sp>
        <p:nvSpPr>
          <p:cNvPr id="9" name="Text 7"/>
          <p:cNvSpPr/>
          <p:nvPr/>
        </p:nvSpPr>
        <p:spPr>
          <a:xfrm>
            <a:off x="5235773" y="2606040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fr-FR" sz="1850" noProof="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02</a:t>
            </a:r>
            <a:endParaRPr lang="fr-FR" sz="1850" noProof="0" dirty="0"/>
          </a:p>
        </p:txBody>
      </p:sp>
      <p:sp>
        <p:nvSpPr>
          <p:cNvPr id="10" name="Shape 8"/>
          <p:cNvSpPr/>
          <p:nvPr/>
        </p:nvSpPr>
        <p:spPr>
          <a:xfrm>
            <a:off x="5235773" y="2982397"/>
            <a:ext cx="4158734" cy="30480"/>
          </a:xfrm>
          <a:prstGeom prst="rect">
            <a:avLst/>
          </a:prstGeom>
          <a:solidFill>
            <a:srgbClr val="F2037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5235773" y="3163014"/>
            <a:ext cx="343662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fr-FR" sz="2200" b="1" noProof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Stage IGBMC &amp; Fin de BTS</a:t>
            </a:r>
            <a:endParaRPr lang="fr-FR" sz="2200" noProof="0" dirty="0"/>
          </a:p>
        </p:txBody>
      </p:sp>
      <p:sp>
        <p:nvSpPr>
          <p:cNvPr id="12" name="Text 10"/>
          <p:cNvSpPr/>
          <p:nvPr/>
        </p:nvSpPr>
        <p:spPr>
          <a:xfrm>
            <a:off x="5235773" y="3658553"/>
            <a:ext cx="41587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fr-FR" sz="1850" u="sng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Déploiements avancés et industrialisation</a:t>
            </a:r>
            <a:endParaRPr lang="fr-FR" sz="1850" noProof="0" dirty="0"/>
          </a:p>
        </p:txBody>
      </p:sp>
      <p:sp>
        <p:nvSpPr>
          <p:cNvPr id="13" name="Text 11"/>
          <p:cNvSpPr/>
          <p:nvPr/>
        </p:nvSpPr>
        <p:spPr>
          <a:xfrm>
            <a:off x="5235773" y="4568190"/>
            <a:ext cx="4158734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Gestion de déploiements lourds d'OS. Configuration avancée de </a:t>
            </a:r>
            <a:r>
              <a:rPr lang="fr-FR" sz="1850" noProof="0" dirty="0" err="1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firmwares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et automatisation de tache.</a:t>
            </a:r>
            <a:endParaRPr lang="fr-FR" sz="1850" noProof="0" dirty="0"/>
          </a:p>
        </p:txBody>
      </p:sp>
      <p:sp>
        <p:nvSpPr>
          <p:cNvPr id="14" name="Text 12"/>
          <p:cNvSpPr/>
          <p:nvPr/>
        </p:nvSpPr>
        <p:spPr>
          <a:xfrm>
            <a:off x="9633823" y="2606040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fr-FR" sz="1850" noProof="0" dirty="0">
                <a:solidFill>
                  <a:srgbClr val="E5E0D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03</a:t>
            </a:r>
            <a:endParaRPr lang="fr-FR" sz="1850" noProof="0" dirty="0"/>
          </a:p>
        </p:txBody>
      </p:sp>
      <p:sp>
        <p:nvSpPr>
          <p:cNvPr id="15" name="Shape 13"/>
          <p:cNvSpPr/>
          <p:nvPr/>
        </p:nvSpPr>
        <p:spPr>
          <a:xfrm>
            <a:off x="9633823" y="2982397"/>
            <a:ext cx="4158853" cy="30480"/>
          </a:xfrm>
          <a:prstGeom prst="rect">
            <a:avLst/>
          </a:prstGeom>
          <a:solidFill>
            <a:srgbClr val="F2037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9633823" y="3163014"/>
            <a:ext cx="335113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fr-FR" sz="2200" b="1" noProof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2ème année en formation</a:t>
            </a:r>
            <a:endParaRPr lang="fr-FR" sz="2200" noProof="0" dirty="0"/>
          </a:p>
        </p:txBody>
      </p:sp>
      <p:sp>
        <p:nvSpPr>
          <p:cNvPr id="17" name="Text 15"/>
          <p:cNvSpPr/>
          <p:nvPr/>
        </p:nvSpPr>
        <p:spPr>
          <a:xfrm>
            <a:off x="9633823" y="3658553"/>
            <a:ext cx="41588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fr-FR" sz="1850" u="sng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Gain en autonomie et organisation</a:t>
            </a:r>
            <a:endParaRPr lang="fr-FR" sz="1850" noProof="0" dirty="0"/>
          </a:p>
        </p:txBody>
      </p:sp>
      <p:sp>
        <p:nvSpPr>
          <p:cNvPr id="18" name="Text 16"/>
          <p:cNvSpPr/>
          <p:nvPr/>
        </p:nvSpPr>
        <p:spPr>
          <a:xfrm>
            <a:off x="9633823" y="4185166"/>
            <a:ext cx="4158853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Passage de tâches de support technique à l'industrialisation de processus. Compétences techniques renforcées et rigueur acquise dans la création de documentations techniques.</a:t>
            </a:r>
            <a:endParaRPr lang="fr-FR" sz="185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E2F1BE-1C17-B173-340A-8B8610D29053}"/>
              </a:ext>
            </a:extLst>
          </p:cNvPr>
          <p:cNvSpPr/>
          <p:nvPr/>
        </p:nvSpPr>
        <p:spPr>
          <a:xfrm>
            <a:off x="12871048" y="7697165"/>
            <a:ext cx="1759352" cy="532435"/>
          </a:xfrm>
          <a:prstGeom prst="rect">
            <a:avLst/>
          </a:prstGeom>
          <a:solidFill>
            <a:srgbClr val="24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82936"/>
            <a:ext cx="659082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fr-FR" sz="4400" b="1" noProof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Contextes professionnels</a:t>
            </a:r>
            <a:endParaRPr lang="fr-FR" sz="4400" noProof="0" dirty="0"/>
          </a:p>
        </p:txBody>
      </p:sp>
      <p:sp>
        <p:nvSpPr>
          <p:cNvPr id="3" name="Text 1"/>
          <p:cNvSpPr/>
          <p:nvPr/>
        </p:nvSpPr>
        <p:spPr>
          <a:xfrm>
            <a:off x="837724" y="2885242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fr-FR" sz="2650" b="1" noProof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EMHA</a:t>
            </a:r>
            <a:endParaRPr lang="fr-FR" sz="2650" noProof="0" dirty="0"/>
          </a:p>
        </p:txBody>
      </p:sp>
      <p:sp>
        <p:nvSpPr>
          <p:cNvPr id="4" name="Text 2"/>
          <p:cNvSpPr/>
          <p:nvPr/>
        </p:nvSpPr>
        <p:spPr>
          <a:xfrm>
            <a:off x="837724" y="3546872"/>
            <a:ext cx="6185535" cy="263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Pôle Habitat Social</a:t>
            </a:r>
            <a:endParaRPr lang="fr-FR" sz="1850" noProof="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Entité regroupant </a:t>
            </a:r>
            <a:r>
              <a:rPr lang="fr-FR" sz="1850" noProof="0" dirty="0" err="1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Ophéa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, Habitation Moderne et Foyer Moderne</a:t>
            </a:r>
            <a:endParaRPr lang="fr-FR" sz="1850" noProof="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500 employés au siège et 17 lieux d’accueil physique</a:t>
            </a:r>
            <a:endParaRPr lang="fr-FR" sz="1850" noProof="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4 employés au service informatique</a:t>
            </a:r>
            <a:endParaRPr lang="fr-FR" sz="1850" noProof="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600/700 postes Windows et 100/150 tablettes</a:t>
            </a:r>
            <a:endParaRPr lang="fr-FR" sz="1850" noProof="0" dirty="0"/>
          </a:p>
        </p:txBody>
      </p:sp>
      <p:sp>
        <p:nvSpPr>
          <p:cNvPr id="5" name="Text 3"/>
          <p:cNvSpPr/>
          <p:nvPr/>
        </p:nvSpPr>
        <p:spPr>
          <a:xfrm>
            <a:off x="7614761" y="2885242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fr-FR" sz="2650" b="1" noProof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IGBMC</a:t>
            </a:r>
            <a:endParaRPr lang="fr-FR" sz="2650" noProof="0" dirty="0"/>
          </a:p>
        </p:txBody>
      </p:sp>
      <p:sp>
        <p:nvSpPr>
          <p:cNvPr id="6" name="Text 4"/>
          <p:cNvSpPr/>
          <p:nvPr/>
        </p:nvSpPr>
        <p:spPr>
          <a:xfrm>
            <a:off x="7614761" y="3546872"/>
            <a:ext cx="6185535" cy="3015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Institut de recherche scientifique</a:t>
            </a:r>
            <a:endParaRPr lang="fr-FR" sz="1850" noProof="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Travaillant pour le CNRS, l’Inserm et l’Université de Strasbourg</a:t>
            </a:r>
            <a:endParaRPr lang="fr-FR" sz="1850" noProof="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570 personnels de recherche</a:t>
            </a:r>
            <a:endParaRPr lang="fr-FR" sz="1850" noProof="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16 personnes au service informatique : 4 dev, 5 Infra, et 6 Gestion de parc + 1 responsable du SI</a:t>
            </a:r>
            <a:endParaRPr lang="fr-FR" sz="1850" noProof="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+ 1000 postes Windows, </a:t>
            </a:r>
            <a:r>
              <a:rPr lang="fr-FR" sz="1850" noProof="0" dirty="0" err="1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MacOS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et Linux</a:t>
            </a:r>
            <a:endParaRPr lang="fr-FR" sz="1850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AE493C-5367-7165-E532-A1187EE6E5F3}"/>
              </a:ext>
            </a:extLst>
          </p:cNvPr>
          <p:cNvSpPr/>
          <p:nvPr/>
        </p:nvSpPr>
        <p:spPr>
          <a:xfrm>
            <a:off x="12871048" y="7697165"/>
            <a:ext cx="1759352" cy="532435"/>
          </a:xfrm>
          <a:prstGeom prst="rect">
            <a:avLst/>
          </a:prstGeom>
          <a:solidFill>
            <a:srgbClr val="24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431256"/>
            <a:ext cx="1238940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fr-FR" sz="4400" b="1" noProof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Compétence - Gérer le patrimoine informatique</a:t>
            </a:r>
            <a:endParaRPr lang="fr-FR" sz="4400" noProof="0" dirty="0"/>
          </a:p>
        </p:txBody>
      </p:sp>
      <p:sp>
        <p:nvSpPr>
          <p:cNvPr id="3" name="Shape 1"/>
          <p:cNvSpPr/>
          <p:nvPr/>
        </p:nvSpPr>
        <p:spPr>
          <a:xfrm>
            <a:off x="837724" y="3614023"/>
            <a:ext cx="4158734" cy="2184202"/>
          </a:xfrm>
          <a:prstGeom prst="roundRect">
            <a:avLst>
              <a:gd name="adj" fmla="val 6698"/>
            </a:avLst>
          </a:prstGeom>
          <a:solidFill>
            <a:srgbClr val="252222">
              <a:alpha val="95000"/>
            </a:srgbClr>
          </a:solidFill>
          <a:ln w="3048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807244" y="3614023"/>
            <a:ext cx="121920" cy="2184202"/>
          </a:xfrm>
          <a:prstGeom prst="roundRect">
            <a:avLst>
              <a:gd name="adj" fmla="val 82464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1198959" y="388381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fr-FR" sz="2200" b="1" noProof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Inventaire</a:t>
            </a:r>
            <a:endParaRPr lang="fr-FR" sz="2200" noProof="0" dirty="0"/>
          </a:p>
        </p:txBody>
      </p:sp>
      <p:sp>
        <p:nvSpPr>
          <p:cNvPr id="6" name="Text 4"/>
          <p:cNvSpPr/>
          <p:nvPr/>
        </p:nvSpPr>
        <p:spPr>
          <a:xfrm>
            <a:off x="1198959" y="4379357"/>
            <a:ext cx="35277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Gestion avec </a:t>
            </a:r>
            <a:r>
              <a:rPr lang="fr-FR" sz="1850" b="1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KACE SMA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(</a:t>
            </a:r>
            <a:r>
              <a:rPr lang="fr-FR" sz="1850" b="1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K1000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)</a:t>
            </a:r>
            <a:endParaRPr lang="fr-FR" sz="1850" noProof="0" dirty="0"/>
          </a:p>
        </p:txBody>
      </p:sp>
      <p:sp>
        <p:nvSpPr>
          <p:cNvPr id="7" name="Shape 5"/>
          <p:cNvSpPr/>
          <p:nvPr/>
        </p:nvSpPr>
        <p:spPr>
          <a:xfrm>
            <a:off x="5235773" y="3614023"/>
            <a:ext cx="4158734" cy="2184202"/>
          </a:xfrm>
          <a:prstGeom prst="roundRect">
            <a:avLst>
              <a:gd name="adj" fmla="val 6698"/>
            </a:avLst>
          </a:prstGeom>
          <a:solidFill>
            <a:srgbClr val="252222">
              <a:alpha val="95000"/>
            </a:srgbClr>
          </a:solidFill>
          <a:ln w="3048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5205293" y="3614023"/>
            <a:ext cx="121920" cy="2184202"/>
          </a:xfrm>
          <a:prstGeom prst="roundRect">
            <a:avLst>
              <a:gd name="adj" fmla="val 82464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5597009" y="388381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fr-FR" sz="2200" b="1" noProof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Active Directory</a:t>
            </a:r>
            <a:endParaRPr lang="fr-FR" sz="2200" noProof="0" dirty="0"/>
          </a:p>
        </p:txBody>
      </p:sp>
      <p:sp>
        <p:nvSpPr>
          <p:cNvPr id="10" name="Text 8"/>
          <p:cNvSpPr/>
          <p:nvPr/>
        </p:nvSpPr>
        <p:spPr>
          <a:xfrm>
            <a:off x="5597009" y="4379357"/>
            <a:ext cx="3706180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Application de règles de nommage strictes</a:t>
            </a:r>
          </a:p>
          <a:p>
            <a:pPr marL="0" indent="0" algn="l">
              <a:lnSpc>
                <a:spcPts val="3000"/>
              </a:lnSpc>
              <a:buNone/>
            </a:pPr>
            <a:endParaRPr lang="fr-FR" sz="1850" noProof="0" dirty="0"/>
          </a:p>
        </p:txBody>
      </p:sp>
      <p:sp>
        <p:nvSpPr>
          <p:cNvPr id="11" name="Shape 9"/>
          <p:cNvSpPr/>
          <p:nvPr/>
        </p:nvSpPr>
        <p:spPr>
          <a:xfrm>
            <a:off x="9633823" y="3614023"/>
            <a:ext cx="4158853" cy="2184202"/>
          </a:xfrm>
          <a:prstGeom prst="roundRect">
            <a:avLst>
              <a:gd name="adj" fmla="val 6698"/>
            </a:avLst>
          </a:prstGeom>
          <a:solidFill>
            <a:srgbClr val="252222">
              <a:alpha val="95000"/>
            </a:srgbClr>
          </a:solidFill>
          <a:ln w="30480">
            <a:solidFill>
              <a:srgbClr val="971B5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Shape 10"/>
          <p:cNvSpPr/>
          <p:nvPr/>
        </p:nvSpPr>
        <p:spPr>
          <a:xfrm>
            <a:off x="9603343" y="3614023"/>
            <a:ext cx="121920" cy="2184202"/>
          </a:xfrm>
          <a:prstGeom prst="roundRect">
            <a:avLst>
              <a:gd name="adj" fmla="val 82464"/>
            </a:avLst>
          </a:prstGeom>
          <a:solidFill>
            <a:srgbClr val="F2037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9995059" y="388381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fr-FR" sz="2200" b="1" noProof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Flotte mobile</a:t>
            </a:r>
            <a:endParaRPr lang="fr-FR" sz="2200" noProof="0" dirty="0"/>
          </a:p>
        </p:txBody>
      </p:sp>
      <p:sp>
        <p:nvSpPr>
          <p:cNvPr id="14" name="Text 12"/>
          <p:cNvSpPr/>
          <p:nvPr/>
        </p:nvSpPr>
        <p:spPr>
          <a:xfrm>
            <a:off x="9995059" y="4379357"/>
            <a:ext cx="352782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Gestion via profils </a:t>
            </a:r>
            <a:r>
              <a:rPr lang="fr-FR" sz="1850" b="1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MDM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Microsoft </a:t>
            </a:r>
            <a:r>
              <a:rPr lang="fr-FR" sz="1850" b="1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Intune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et Samsung </a:t>
            </a:r>
            <a:r>
              <a:rPr lang="fr-FR" sz="1850" b="1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Knox</a:t>
            </a:r>
            <a:endParaRPr lang="fr-FR" sz="1850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C6B5CD-93C2-EDA8-77C5-6DBD446C8357}"/>
              </a:ext>
            </a:extLst>
          </p:cNvPr>
          <p:cNvSpPr/>
          <p:nvPr/>
        </p:nvSpPr>
        <p:spPr>
          <a:xfrm>
            <a:off x="12871048" y="7697165"/>
            <a:ext cx="1759352" cy="532435"/>
          </a:xfrm>
          <a:prstGeom prst="rect">
            <a:avLst/>
          </a:prstGeom>
          <a:solidFill>
            <a:srgbClr val="24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849517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fr-FR" sz="4400" b="1" noProof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Compétence - Répondre aux incidents et demandes</a:t>
            </a:r>
            <a:endParaRPr lang="fr-FR" sz="4400" noProof="0" dirty="0"/>
          </a:p>
        </p:txBody>
      </p:sp>
      <p:sp>
        <p:nvSpPr>
          <p:cNvPr id="3" name="Text 1"/>
          <p:cNvSpPr/>
          <p:nvPr/>
        </p:nvSpPr>
        <p:spPr>
          <a:xfrm>
            <a:off x="837724" y="3736300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Support N1/N2.</a:t>
            </a:r>
            <a:endParaRPr lang="fr-FR" sz="1850" noProof="0" dirty="0"/>
          </a:p>
        </p:txBody>
      </p:sp>
      <p:sp>
        <p:nvSpPr>
          <p:cNvPr id="4" name="Shape 2"/>
          <p:cNvSpPr/>
          <p:nvPr/>
        </p:nvSpPr>
        <p:spPr>
          <a:xfrm>
            <a:off x="837724" y="4388525"/>
            <a:ext cx="12954952" cy="1991439"/>
          </a:xfrm>
          <a:prstGeom prst="roundRect">
            <a:avLst>
              <a:gd name="adj" fmla="val 5049"/>
            </a:avLst>
          </a:prstGeom>
          <a:solidFill>
            <a:srgbClr val="4C0124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039" y="4684990"/>
            <a:ext cx="351949" cy="2815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8304" y="4687610"/>
            <a:ext cx="443662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Support et intervention</a:t>
            </a:r>
            <a:endParaRPr lang="fr-FR" sz="2200" noProof="0" dirty="0"/>
          </a:p>
        </p:txBody>
      </p:sp>
      <p:sp>
        <p:nvSpPr>
          <p:cNvPr id="7" name="Text 4"/>
          <p:cNvSpPr/>
          <p:nvPr/>
        </p:nvSpPr>
        <p:spPr>
          <a:xfrm>
            <a:off x="1668304" y="5278874"/>
            <a:ext cx="1188505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fr-FR" sz="1850" noProof="0" dirty="0">
                <a:solidFill>
                  <a:schemeClr val="bg1"/>
                </a:solidFill>
              </a:rPr>
              <a:t>Logiciel de ticket</a:t>
            </a:r>
            <a:r>
              <a:rPr lang="fr-FR" sz="1850" dirty="0">
                <a:solidFill>
                  <a:schemeClr val="bg1"/>
                </a:solidFill>
              </a:rPr>
              <a:t>, p</a:t>
            </a:r>
            <a:r>
              <a:rPr lang="fr-FR" sz="1850" noProof="0" dirty="0" err="1">
                <a:solidFill>
                  <a:schemeClr val="bg1"/>
                </a:solidFill>
              </a:rPr>
              <a:t>rocessus</a:t>
            </a:r>
            <a:r>
              <a:rPr lang="fr-FR" sz="1850" noProof="0" dirty="0">
                <a:solidFill>
                  <a:schemeClr val="bg1"/>
                </a:solidFill>
              </a:rPr>
              <a:t> de réponse aux incidents/demande à appliquer, « </a:t>
            </a:r>
            <a:r>
              <a:rPr lang="fr-FR" sz="1850" noProof="0" dirty="0" err="1">
                <a:solidFill>
                  <a:schemeClr val="bg1"/>
                </a:solidFill>
              </a:rPr>
              <a:t>never</a:t>
            </a:r>
            <a:r>
              <a:rPr lang="fr-FR" sz="1850" noProof="0" dirty="0">
                <a:solidFill>
                  <a:schemeClr val="bg1"/>
                </a:solidFill>
              </a:rPr>
              <a:t> trust user input », escale au pole/service concerné. </a:t>
            </a:r>
          </a:p>
          <a:p>
            <a:pPr marL="0" indent="0" algn="l">
              <a:lnSpc>
                <a:spcPts val="3000"/>
              </a:lnSpc>
              <a:buNone/>
            </a:pPr>
            <a:endParaRPr lang="fr-FR" sz="1850" noProof="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51D90B-5D65-34AB-9F5C-783EFA58B8F3}"/>
              </a:ext>
            </a:extLst>
          </p:cNvPr>
          <p:cNvSpPr/>
          <p:nvPr/>
        </p:nvSpPr>
        <p:spPr>
          <a:xfrm>
            <a:off x="12871048" y="7697165"/>
            <a:ext cx="1759352" cy="532435"/>
          </a:xfrm>
          <a:prstGeom prst="rect">
            <a:avLst/>
          </a:prstGeom>
          <a:solidFill>
            <a:srgbClr val="24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48126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fr-FR" sz="4400" b="1" noProof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Compétence - Mettre à disposition un service (Windows)</a:t>
            </a:r>
            <a:endParaRPr lang="fr-FR" sz="4400" noProof="0" dirty="0"/>
          </a:p>
        </p:txBody>
      </p:sp>
      <p:sp>
        <p:nvSpPr>
          <p:cNvPr id="3" name="Text 1"/>
          <p:cNvSpPr/>
          <p:nvPr/>
        </p:nvSpPr>
        <p:spPr>
          <a:xfrm>
            <a:off x="837724" y="3915132"/>
            <a:ext cx="12954952" cy="2166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Industrialisation des déploiements Windows 11 sur des HP G10 via </a:t>
            </a:r>
            <a:r>
              <a:rPr lang="fr-FR" sz="1850" noProof="0" dirty="0" err="1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l'appliance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</a:t>
            </a:r>
            <a:r>
              <a:rPr lang="fr-FR" sz="1850" b="1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KACE SDA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(</a:t>
            </a:r>
            <a:r>
              <a:rPr lang="fr-FR" sz="1850" b="1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K2000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).</a:t>
            </a:r>
            <a:endParaRPr lang="fr-FR" sz="1850" noProof="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Création d'environnements </a:t>
            </a:r>
            <a:r>
              <a:rPr lang="fr-FR" sz="1850" b="1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KBE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bootables.</a:t>
            </a:r>
            <a:endParaRPr lang="fr-FR" sz="1850" noProof="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Boot </a:t>
            </a:r>
            <a:r>
              <a:rPr lang="fr-FR" sz="1850" b="1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PXE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.</a:t>
            </a:r>
            <a:endParaRPr lang="fr-FR" sz="1850" noProof="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Configurations de sécurité du </a:t>
            </a:r>
            <a:r>
              <a:rPr lang="fr-FR" sz="1850" noProof="0" dirty="0" err="1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firmware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: </a:t>
            </a:r>
            <a:r>
              <a:rPr lang="fr-FR" sz="1850" b="1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BIOS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/</a:t>
            </a:r>
            <a:r>
              <a:rPr lang="fr-FR" sz="1850" b="1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UEFI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, activation du </a:t>
            </a:r>
            <a:r>
              <a:rPr lang="fr-FR" sz="1850" b="1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TPM 2.0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, et gestion du </a:t>
            </a:r>
            <a:r>
              <a:rPr lang="fr-FR" sz="1850" b="1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Secure Boot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/ HP </a:t>
            </a:r>
            <a:r>
              <a:rPr lang="fr-FR" sz="1850" b="1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Sure Start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.</a:t>
            </a:r>
            <a:endParaRPr lang="fr-FR" sz="185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6362DF-122E-EBFF-6D83-099949879FDB}"/>
              </a:ext>
            </a:extLst>
          </p:cNvPr>
          <p:cNvSpPr/>
          <p:nvPr/>
        </p:nvSpPr>
        <p:spPr>
          <a:xfrm>
            <a:off x="12871048" y="7697165"/>
            <a:ext cx="1759352" cy="532435"/>
          </a:xfrm>
          <a:prstGeom prst="rect">
            <a:avLst/>
          </a:prstGeom>
          <a:solidFill>
            <a:srgbClr val="24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646515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fr-FR" sz="4400" b="1" noProof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Compétence - Mettre à disposition un service (</a:t>
            </a:r>
            <a:r>
              <a:rPr lang="fr-FR" sz="4400" b="1" noProof="0" dirty="0" err="1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macOS</a:t>
            </a:r>
            <a:r>
              <a:rPr lang="fr-FR" sz="4400" b="1" noProof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)</a:t>
            </a:r>
            <a:endParaRPr lang="fr-FR" sz="4400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533299"/>
            <a:ext cx="4318278" cy="9575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7039" y="4730115"/>
            <a:ext cx="341364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fr-FR" sz="2200" b="1" noProof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Provisioning "</a:t>
            </a:r>
            <a:r>
              <a:rPr lang="fr-FR" sz="2200" b="1" noProof="0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Zero</a:t>
            </a:r>
            <a:r>
              <a:rPr lang="fr-FR" sz="2200" b="1" noProof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 </a:t>
            </a:r>
            <a:r>
              <a:rPr lang="fr-FR" sz="2200" b="1" noProof="0" dirty="0" err="1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Touch</a:t>
            </a:r>
            <a:r>
              <a:rPr lang="fr-FR" sz="2200" b="1" noProof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"</a:t>
            </a:r>
            <a:endParaRPr lang="fr-FR" sz="2200" noProof="0" dirty="0"/>
          </a:p>
        </p:txBody>
      </p:sp>
      <p:sp>
        <p:nvSpPr>
          <p:cNvPr id="5" name="Text 2"/>
          <p:cNvSpPr/>
          <p:nvPr/>
        </p:nvSpPr>
        <p:spPr>
          <a:xfrm>
            <a:off x="1077039" y="5225653"/>
            <a:ext cx="38396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Via Apple </a:t>
            </a:r>
            <a:r>
              <a:rPr lang="fr-FR" sz="1850" noProof="0" dirty="0" err="1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Device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</a:t>
            </a:r>
            <a:r>
              <a:rPr lang="fr-FR" sz="1850" noProof="0" dirty="0" err="1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Enrollment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(</a:t>
            </a:r>
            <a:r>
              <a:rPr lang="fr-FR" sz="1850" b="1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ADE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) et </a:t>
            </a:r>
            <a:r>
              <a:rPr lang="fr-FR" sz="1850" b="1" noProof="0" dirty="0" err="1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Mosyle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.</a:t>
            </a:r>
            <a:endParaRPr lang="fr-FR" sz="1850" noProof="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002" y="3533299"/>
            <a:ext cx="4318278" cy="9575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95317" y="4730115"/>
            <a:ext cx="3839647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fr-FR" sz="2200" b="1" noProof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Automatisation post-installation</a:t>
            </a:r>
            <a:endParaRPr lang="fr-FR" sz="2200" noProof="0" dirty="0"/>
          </a:p>
        </p:txBody>
      </p:sp>
      <p:sp>
        <p:nvSpPr>
          <p:cNvPr id="8" name="Text 4"/>
          <p:cNvSpPr/>
          <p:nvPr/>
        </p:nvSpPr>
        <p:spPr>
          <a:xfrm>
            <a:off x="5395317" y="5577602"/>
            <a:ext cx="38396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Scripts </a:t>
            </a:r>
            <a:r>
              <a:rPr lang="fr-FR" sz="1850" b="1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Bash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 (nommage </a:t>
            </a:r>
            <a:r>
              <a:rPr lang="fr-FR" sz="1850" b="1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AD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, montage de lecteurs réseau).</a:t>
            </a:r>
            <a:endParaRPr lang="fr-FR" sz="1850" noProof="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4279" y="3533299"/>
            <a:ext cx="4318278" cy="9575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3595" y="473011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fr-FR" sz="2200" b="1" noProof="0" dirty="0">
                <a:solidFill>
                  <a:srgbClr val="E5E0D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Intégration réseau</a:t>
            </a:r>
            <a:endParaRPr lang="fr-FR" sz="2200" noProof="0" dirty="0"/>
          </a:p>
        </p:txBody>
      </p:sp>
      <p:sp>
        <p:nvSpPr>
          <p:cNvPr id="11" name="Text 6"/>
          <p:cNvSpPr/>
          <p:nvPr/>
        </p:nvSpPr>
        <p:spPr>
          <a:xfrm>
            <a:off x="9713595" y="5225653"/>
            <a:ext cx="38396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Vérification </a:t>
            </a:r>
            <a:r>
              <a:rPr lang="fr-FR" sz="1850" b="1" noProof="0" dirty="0" err="1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FileVault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, </a:t>
            </a:r>
            <a:r>
              <a:rPr lang="fr-FR" sz="1850" b="1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802.1X </a:t>
            </a:r>
            <a:r>
              <a:rPr lang="fr-FR" sz="1850" b="1" noProof="0" dirty="0" err="1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Eduroam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, </a:t>
            </a:r>
            <a:r>
              <a:rPr lang="fr-FR" sz="1850" b="1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VPN </a:t>
            </a:r>
            <a:r>
              <a:rPr lang="fr-FR" sz="1850" b="1" noProof="0" dirty="0" err="1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PaloAlto</a:t>
            </a: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.</a:t>
            </a:r>
            <a:endParaRPr lang="fr-FR" sz="1850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FFBB2-B6E6-209C-04A3-BC5AD5F274B6}"/>
              </a:ext>
            </a:extLst>
          </p:cNvPr>
          <p:cNvSpPr/>
          <p:nvPr/>
        </p:nvSpPr>
        <p:spPr>
          <a:xfrm>
            <a:off x="12871048" y="7697165"/>
            <a:ext cx="1759352" cy="532435"/>
          </a:xfrm>
          <a:prstGeom prst="rect">
            <a:avLst/>
          </a:prstGeom>
          <a:solidFill>
            <a:srgbClr val="24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666048"/>
            <a:ext cx="1038570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fr-FR" sz="4400" b="1" noProof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Compétence - Travailler en mode projet</a:t>
            </a:r>
            <a:endParaRPr lang="fr-FR" sz="4400" noProof="0" dirty="0"/>
          </a:p>
        </p:txBody>
      </p:sp>
      <p:sp>
        <p:nvSpPr>
          <p:cNvPr id="3" name="Text 1"/>
          <p:cNvSpPr/>
          <p:nvPr/>
        </p:nvSpPr>
        <p:spPr>
          <a:xfrm>
            <a:off x="837724" y="3968353"/>
            <a:ext cx="3711059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fr-FR" sz="2650" b="1" noProof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Projet MDM chez EMHA</a:t>
            </a:r>
            <a:endParaRPr lang="fr-FR" sz="2650" noProof="0" dirty="0"/>
          </a:p>
        </p:txBody>
      </p:sp>
      <p:sp>
        <p:nvSpPr>
          <p:cNvPr id="4" name="Text 2"/>
          <p:cNvSpPr/>
          <p:nvPr/>
        </p:nvSpPr>
        <p:spPr>
          <a:xfrm>
            <a:off x="837724" y="4629983"/>
            <a:ext cx="6185535" cy="849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Cadrage du besoin </a:t>
            </a:r>
            <a:r>
              <a:rPr lang="fr-FR" sz="1850" noProof="0" dirty="0" err="1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inter-services</a:t>
            </a:r>
            <a:endParaRPr lang="fr-FR" sz="1850" noProof="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Création et déploiement des stratégies </a:t>
            </a:r>
            <a:endParaRPr lang="fr-FR" sz="1850" noProof="0" dirty="0"/>
          </a:p>
        </p:txBody>
      </p:sp>
      <p:sp>
        <p:nvSpPr>
          <p:cNvPr id="5" name="Text 3"/>
          <p:cNvSpPr/>
          <p:nvPr/>
        </p:nvSpPr>
        <p:spPr>
          <a:xfrm>
            <a:off x="7614761" y="3968353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fr-FR" sz="2650" b="1" noProof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Intégration IGBMC</a:t>
            </a:r>
            <a:endParaRPr lang="fr-FR" sz="2650" noProof="0" dirty="0"/>
          </a:p>
        </p:txBody>
      </p:sp>
      <p:sp>
        <p:nvSpPr>
          <p:cNvPr id="6" name="Text 4"/>
          <p:cNvSpPr/>
          <p:nvPr/>
        </p:nvSpPr>
        <p:spPr>
          <a:xfrm>
            <a:off x="7614761" y="4629983"/>
            <a:ext cx="6185535" cy="849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Nouveaux modèles matériels (Lenovo)</a:t>
            </a:r>
            <a:endParaRPr lang="fr-FR" sz="1850" noProof="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Chaîne de déploiement</a:t>
            </a:r>
            <a:endParaRPr lang="fr-FR" sz="1850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0048EB-250C-FB4B-DDD7-6C17E4466ECB}"/>
              </a:ext>
            </a:extLst>
          </p:cNvPr>
          <p:cNvSpPr/>
          <p:nvPr/>
        </p:nvSpPr>
        <p:spPr>
          <a:xfrm>
            <a:off x="12871048" y="7697165"/>
            <a:ext cx="1759352" cy="532435"/>
          </a:xfrm>
          <a:prstGeom prst="rect">
            <a:avLst/>
          </a:prstGeom>
          <a:solidFill>
            <a:srgbClr val="24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554962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fr-FR" sz="4400" b="1" noProof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Compétence - Présence en ligne &amp; Organisation professionnelle</a:t>
            </a:r>
            <a:endParaRPr lang="fr-FR" sz="4400" noProof="0" dirty="0"/>
          </a:p>
        </p:txBody>
      </p:sp>
      <p:sp>
        <p:nvSpPr>
          <p:cNvPr id="3" name="Text 1"/>
          <p:cNvSpPr/>
          <p:nvPr/>
        </p:nvSpPr>
        <p:spPr>
          <a:xfrm>
            <a:off x="837724" y="4441746"/>
            <a:ext cx="12954952" cy="123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Rédaction et publication sur l'intranet de fiche pour les nouveaux utilisateurs. </a:t>
            </a:r>
            <a:endParaRPr lang="fr-FR" sz="1850" noProof="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Veille technologique sur les évolutions des logiciels de mise à jour des différents constructeurs.</a:t>
            </a:r>
            <a:endParaRPr lang="fr-FR" sz="185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32C60A-4CFA-7707-259C-203E02218B78}"/>
              </a:ext>
            </a:extLst>
          </p:cNvPr>
          <p:cNvSpPr/>
          <p:nvPr/>
        </p:nvSpPr>
        <p:spPr>
          <a:xfrm>
            <a:off x="12871048" y="7697165"/>
            <a:ext cx="1759352" cy="532435"/>
          </a:xfrm>
          <a:prstGeom prst="rect">
            <a:avLst/>
          </a:prstGeom>
          <a:solidFill>
            <a:srgbClr val="24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679621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fr-FR" sz="4400" b="1" noProof="0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Bilan et Perspectives</a:t>
            </a:r>
            <a:endParaRPr lang="fr-FR" sz="4400" noProof="0" dirty="0"/>
          </a:p>
        </p:txBody>
      </p:sp>
      <p:sp>
        <p:nvSpPr>
          <p:cNvPr id="3" name="Text 1"/>
          <p:cNvSpPr/>
          <p:nvPr/>
        </p:nvSpPr>
        <p:spPr>
          <a:xfrm>
            <a:off x="837724" y="386238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fr-FR" sz="1850" noProof="0" dirty="0"/>
          </a:p>
        </p:txBody>
      </p:sp>
      <p:sp>
        <p:nvSpPr>
          <p:cNvPr id="4" name="Text 2"/>
          <p:cNvSpPr/>
          <p:nvPr/>
        </p:nvSpPr>
        <p:spPr>
          <a:xfrm>
            <a:off x="837724" y="451461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fr-FR" sz="1850" noProof="0" dirty="0"/>
          </a:p>
        </p:txBody>
      </p:sp>
      <p:sp>
        <p:nvSpPr>
          <p:cNvPr id="5" name="Text 3"/>
          <p:cNvSpPr/>
          <p:nvPr/>
        </p:nvSpPr>
        <p:spPr>
          <a:xfrm>
            <a:off x="837724" y="516683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fr-FR" sz="1850" noProof="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Remerciements au jury.</a:t>
            </a:r>
            <a:endParaRPr lang="fr-FR" sz="1850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58E3A8-F739-23ED-059E-E1CE99E0BA50}"/>
              </a:ext>
            </a:extLst>
          </p:cNvPr>
          <p:cNvSpPr/>
          <p:nvPr/>
        </p:nvSpPr>
        <p:spPr>
          <a:xfrm>
            <a:off x="12871048" y="7697165"/>
            <a:ext cx="1759352" cy="532435"/>
          </a:xfrm>
          <a:prstGeom prst="rect">
            <a:avLst/>
          </a:prstGeom>
          <a:solidFill>
            <a:srgbClr val="24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483</Words>
  <Application>Microsoft Office PowerPoint</Application>
  <PresentationFormat>Personnalisé</PresentationFormat>
  <Paragraphs>81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Overpass Bold</vt:lpstr>
      <vt:lpstr>Overpass Light</vt:lpstr>
      <vt:lpstr>Arial</vt:lpstr>
      <vt:lpstr>Overpass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drvgo</cp:lastModifiedBy>
  <cp:revision>9</cp:revision>
  <dcterms:created xsi:type="dcterms:W3CDTF">2026-02-25T08:34:23Z</dcterms:created>
  <dcterms:modified xsi:type="dcterms:W3CDTF">2026-02-28T12:34:58Z</dcterms:modified>
</cp:coreProperties>
</file>